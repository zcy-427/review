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303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304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29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67160" cy="0"/>
          </a:xfrm>
          <a:prstGeom prst="line">
            <a:avLst/>
          </a:prstGeom>
          <a:noFill/>
          <a:ln w="7620">
            <a:solidFill>
              <a:srgbClr val="EAD8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47472" y="655624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7B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第五题：独木桥同步问题 · P/V 完整答案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7899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第五题：独木桥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同步问题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安全性版本 + 兼顾公平性版本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目标：用 P/V 操作保证两个方向不会同时过桥；进一步扩展到无饥饿的公平调度。</a:t>
            </a:r>
            <a:endParaRPr lang="en-US" sz="1400" dirty="0"/>
          </a:p>
        </p:txBody>
      </p:sp>
      <p:pic>
        <p:nvPicPr>
          <p:cNvPr id="5" name="Image 0" descr="/mnt/data/bridge_crop.png"/>
          <p:cNvPicPr>
            <a:picLocks noChangeAspect="1"/>
          </p:cNvPicPr>
          <p:nvPr/>
        </p:nvPicPr>
        <p:blipFill>
          <a:blip r:embed="rId3"/>
          <a:srcRect l="4924" r="4924"/>
          <a:stretch/>
        </p:blipFill>
        <p:spPr>
          <a:xfrm>
            <a:off x="5532120" y="502920"/>
            <a:ext cx="621792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3886200"/>
            <a:ext cx="5897880" cy="1234440"/>
          </a:xfrm>
          <a:prstGeom prst="roundRect">
            <a:avLst>
              <a:gd name="adj" fmla="val 5185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" name="Text 4"/>
          <p:cNvSpPr/>
          <p:nvPr/>
        </p:nvSpPr>
        <p:spPr>
          <a:xfrm>
            <a:off x="5641848" y="3977640"/>
            <a:ext cx="56784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题目核心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41848" y="4215384"/>
            <a:ext cx="567842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同一方向可连续过桥；某方向有人过桥时，另一方向必须等待。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6928" y="4663440"/>
            <a:ext cx="452628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" name="Text 7"/>
          <p:cNvSpPr/>
          <p:nvPr/>
        </p:nvSpPr>
        <p:spPr>
          <a:xfrm>
            <a:off x="676656" y="4718304"/>
            <a:ext cx="430682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抽象：独木桥 = 临界资源；两个方向 = 两类互斥进程；同方向多人 = 读者式共享。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题目拆解：独木桥要解决什么？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这是一道典型的“方向互斥 + 同向共享”同步问题。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6" name="Text 4"/>
          <p:cNvSpPr/>
          <p:nvPr/>
        </p:nvSpPr>
        <p:spPr>
          <a:xfrm>
            <a:off x="667512" y="1193292"/>
            <a:ext cx="90525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8" name="Text 6"/>
          <p:cNvSpPr/>
          <p:nvPr/>
        </p:nvSpPr>
        <p:spPr>
          <a:xfrm>
            <a:off x="4645152" y="1193292"/>
            <a:ext cx="90525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0" name="Text 8"/>
          <p:cNvSpPr/>
          <p:nvPr/>
        </p:nvSpPr>
        <p:spPr>
          <a:xfrm>
            <a:off x="8531352" y="1193292"/>
            <a:ext cx="90525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2" name="Text 10"/>
          <p:cNvSpPr/>
          <p:nvPr/>
        </p:nvSpPr>
        <p:spPr>
          <a:xfrm>
            <a:off x="70408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方向互斥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A→B 与 B→A 不能同时在桥上。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5" name="Text 13"/>
          <p:cNvSpPr/>
          <p:nvPr/>
        </p:nvSpPr>
        <p:spPr>
          <a:xfrm>
            <a:off x="449884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同向连续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9884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同一方向可以多人连续过桥，避免每人都重新抢桥。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8" name="Text 16"/>
          <p:cNvSpPr/>
          <p:nvPr/>
        </p:nvSpPr>
        <p:spPr>
          <a:xfrm>
            <a:off x="829360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防饥饿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若对向已经有人等待，当前方向不能无限续流。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28346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1" name="Text 19"/>
          <p:cNvSpPr/>
          <p:nvPr/>
        </p:nvSpPr>
        <p:spPr>
          <a:xfrm>
            <a:off x="704088" y="292608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桥的互斥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" y="3163824"/>
            <a:ext cx="2935224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s 控制独木桥：第一个人 P(s)，最后一个人 V(s)。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89120" y="28346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Text 22"/>
          <p:cNvSpPr/>
          <p:nvPr/>
        </p:nvSpPr>
        <p:spPr>
          <a:xfrm>
            <a:off x="4498848" y="292608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计数保护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3163824"/>
            <a:ext cx="2935224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s1、s2 分别保护 rc1、rc2，避免并发修改错误。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28346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7" name="Text 25"/>
          <p:cNvSpPr/>
          <p:nvPr/>
        </p:nvSpPr>
        <p:spPr>
          <a:xfrm>
            <a:off x="8293608" y="292608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公平扩展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93608" y="3163824"/>
            <a:ext cx="2935224" cy="557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dir、wa、wb、qa、qb 控制批次切换。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5074920"/>
            <a:ext cx="10561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0" name="Text 28"/>
          <p:cNvSpPr/>
          <p:nvPr/>
        </p:nvSpPr>
        <p:spPr>
          <a:xfrm>
            <a:off x="932688" y="5129784"/>
            <a:ext cx="103418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考试标准答案通常要求“安全性版本”；若题目额外要求无饥饿，则需要“安全性 + 公平性版本”。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安全性版本：变量与信号量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标准答案使用 rc1/rc2 记录两个方向人数，用 s 控制桥。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10607040" cy="384048"/>
          </a:xfrm>
          <a:prstGeom prst="rect">
            <a:avLst/>
          </a:prstGeom>
          <a:solidFill>
            <a:srgbClr val="D97706"/>
          </a:solidFill>
          <a:ln w="762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6" name="Text 4"/>
          <p:cNvSpPr/>
          <p:nvPr/>
        </p:nvSpPr>
        <p:spPr>
          <a:xfrm>
            <a:off x="813816" y="125272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42616" y="1252728"/>
            <a:ext cx="408736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03136" y="1252728"/>
            <a:ext cx="454456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527048"/>
            <a:ext cx="182880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0" name="Text 8"/>
          <p:cNvSpPr/>
          <p:nvPr/>
        </p:nvSpPr>
        <p:spPr>
          <a:xfrm>
            <a:off x="850392" y="1636776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527048"/>
            <a:ext cx="41605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2" name="Text 10"/>
          <p:cNvSpPr/>
          <p:nvPr/>
        </p:nvSpPr>
        <p:spPr>
          <a:xfrm>
            <a:off x="2679192" y="1636776"/>
            <a:ext cx="40142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独木桥互斥信号量，初值为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0" y="1527048"/>
            <a:ext cx="46177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4" name="Text 12"/>
          <p:cNvSpPr/>
          <p:nvPr/>
        </p:nvSpPr>
        <p:spPr>
          <a:xfrm>
            <a:off x="6839712" y="1636776"/>
            <a:ext cx="44714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保证同一时刻桥只被一个方向占用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2148840"/>
            <a:ext cx="182880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6" name="Text 14"/>
          <p:cNvSpPr/>
          <p:nvPr/>
        </p:nvSpPr>
        <p:spPr>
          <a:xfrm>
            <a:off x="850392" y="2258568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06040" y="2148840"/>
            <a:ext cx="416052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8" name="Text 16"/>
          <p:cNvSpPr/>
          <p:nvPr/>
        </p:nvSpPr>
        <p:spPr>
          <a:xfrm>
            <a:off x="2679192" y="2258568"/>
            <a:ext cx="40142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rc1 的互斥信号量，初值为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2148840"/>
            <a:ext cx="461772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0" name="Text 18"/>
          <p:cNvSpPr/>
          <p:nvPr/>
        </p:nvSpPr>
        <p:spPr>
          <a:xfrm>
            <a:off x="6839712" y="2258568"/>
            <a:ext cx="44714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防止多个 A→B 行人同时修改 rc1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2770632"/>
            <a:ext cx="182880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2" name="Text 20"/>
          <p:cNvSpPr/>
          <p:nvPr/>
        </p:nvSpPr>
        <p:spPr>
          <a:xfrm>
            <a:off x="850392" y="2880360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06040" y="2770632"/>
            <a:ext cx="41605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4" name="Text 22"/>
          <p:cNvSpPr/>
          <p:nvPr/>
        </p:nvSpPr>
        <p:spPr>
          <a:xfrm>
            <a:off x="2679192" y="2880360"/>
            <a:ext cx="40142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rc2 的互斥信号量，初值为 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0" y="2770632"/>
            <a:ext cx="46177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6" name="Text 24"/>
          <p:cNvSpPr/>
          <p:nvPr/>
        </p:nvSpPr>
        <p:spPr>
          <a:xfrm>
            <a:off x="6839712" y="2880360"/>
            <a:ext cx="44714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防止多个 B→A 行人同时修改 rc2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" y="3392424"/>
            <a:ext cx="182880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8" name="Text 26"/>
          <p:cNvSpPr/>
          <p:nvPr/>
        </p:nvSpPr>
        <p:spPr>
          <a:xfrm>
            <a:off x="850392" y="3502152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606040" y="3392424"/>
            <a:ext cx="416052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Text 28"/>
          <p:cNvSpPr/>
          <p:nvPr/>
        </p:nvSpPr>
        <p:spPr>
          <a:xfrm>
            <a:off x="2679192" y="3502152"/>
            <a:ext cx="40142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A→B 方向当前在桥上/占用桥的人数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3392424"/>
            <a:ext cx="4617720" cy="621792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2" name="Text 30"/>
          <p:cNvSpPr/>
          <p:nvPr/>
        </p:nvSpPr>
        <p:spPr>
          <a:xfrm>
            <a:off x="6839712" y="3502152"/>
            <a:ext cx="44714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A 申请桥；最后一个 A 释放桥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7240" y="4014216"/>
            <a:ext cx="182880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4" name="Text 32"/>
          <p:cNvSpPr/>
          <p:nvPr/>
        </p:nvSpPr>
        <p:spPr>
          <a:xfrm>
            <a:off x="850392" y="4123944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06040" y="4014216"/>
            <a:ext cx="41605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6" name="Text 34"/>
          <p:cNvSpPr/>
          <p:nvPr/>
        </p:nvSpPr>
        <p:spPr>
          <a:xfrm>
            <a:off x="2679192" y="4123944"/>
            <a:ext cx="40142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B→A 方向当前在桥上/占用桥的人数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6560" y="4014216"/>
            <a:ext cx="4617720" cy="621792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8" name="Text 36"/>
          <p:cNvSpPr/>
          <p:nvPr/>
        </p:nvSpPr>
        <p:spPr>
          <a:xfrm>
            <a:off x="6839712" y="4123944"/>
            <a:ext cx="44714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B 申请桥；最后一个 B 释放桥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8680" y="5394960"/>
            <a:ext cx="10378440" cy="438912"/>
          </a:xfrm>
          <a:prstGeom prst="rect">
            <a:avLst/>
          </a:prstGeom>
          <a:solidFill>
            <a:srgbClr val="ECFDF3"/>
          </a:solidFill>
          <a:ln w="8890">
            <a:solidFill>
              <a:srgbClr val="86D39D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40" name="Text 38"/>
          <p:cNvSpPr/>
          <p:nvPr/>
        </p:nvSpPr>
        <p:spPr>
          <a:xfrm>
            <a:off x="978408" y="5449824"/>
            <a:ext cx="1015898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一句话：s 管桥，s1/s2 管计数器，rc1/rc2 判断“第一个”和“最后一个”。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安全性机制：第一个人申请桥，最后一个人释放桥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同方向中间的人只增加/减少计数，不重复申请桥。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103120" y="2011680"/>
            <a:ext cx="173736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6" name="Shape 4"/>
          <p:cNvSpPr/>
          <p:nvPr/>
        </p:nvSpPr>
        <p:spPr>
          <a:xfrm>
            <a:off x="5577840" y="2011680"/>
            <a:ext cx="173736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7" name="Shape 5"/>
          <p:cNvSpPr/>
          <p:nvPr/>
        </p:nvSpPr>
        <p:spPr>
          <a:xfrm>
            <a:off x="2103120" y="3657600"/>
            <a:ext cx="17373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8" name="Shape 6"/>
          <p:cNvSpPr/>
          <p:nvPr/>
        </p:nvSpPr>
        <p:spPr>
          <a:xfrm>
            <a:off x="5577840" y="3657600"/>
            <a:ext cx="17373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9" name="Shape 7"/>
          <p:cNvSpPr/>
          <p:nvPr/>
        </p:nvSpPr>
        <p:spPr>
          <a:xfrm>
            <a:off x="4526280" y="2514600"/>
            <a:ext cx="0" cy="64008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0" name="Shape 8"/>
          <p:cNvSpPr/>
          <p:nvPr/>
        </p:nvSpPr>
        <p:spPr>
          <a:xfrm>
            <a:off x="8046720" y="2514600"/>
            <a:ext cx="0" cy="64008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2" name="Text 10"/>
          <p:cNvSpPr/>
          <p:nvPr/>
        </p:nvSpPr>
        <p:spPr>
          <a:xfrm>
            <a:off x="704088" y="166420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第一个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1901952"/>
            <a:ext cx="12893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P(s1)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1572768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FFDF9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5" name="Text 13"/>
          <p:cNvSpPr/>
          <p:nvPr/>
        </p:nvSpPr>
        <p:spPr>
          <a:xfrm>
            <a:off x="3950208" y="1664208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独木桥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0208" y="1901952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s=0：A 方向占用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57276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8" name="Text 16"/>
          <p:cNvSpPr/>
          <p:nvPr/>
        </p:nvSpPr>
        <p:spPr>
          <a:xfrm>
            <a:off x="7424928" y="166420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第一个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24928" y="1901952"/>
            <a:ext cx="12893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P(s2)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rc2++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P(s) 阻塞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21868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1" name="Text 19"/>
          <p:cNvSpPr/>
          <p:nvPr/>
        </p:nvSpPr>
        <p:spPr>
          <a:xfrm>
            <a:off x="704088" y="331012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后续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" y="3547872"/>
            <a:ext cx="12893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不再 P(s)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直接过桥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3218688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Text 22"/>
          <p:cNvSpPr/>
          <p:nvPr/>
        </p:nvSpPr>
        <p:spPr>
          <a:xfrm>
            <a:off x="3950208" y="3310128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最后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50208" y="3547872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rc1--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rc1=0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3218688"/>
            <a:ext cx="1508760" cy="868680"/>
          </a:xfrm>
          <a:prstGeom prst="roundRect">
            <a:avLst>
              <a:gd name="adj" fmla="val 7368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7" name="Text 25"/>
          <p:cNvSpPr/>
          <p:nvPr/>
        </p:nvSpPr>
        <p:spPr>
          <a:xfrm>
            <a:off x="7424928" y="331012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获得机会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24928" y="3547872"/>
            <a:ext cx="12893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释放 s 后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才可过桥</a:t>
            </a:r>
            <a:endParaRPr lang="en-US" sz="1400" dirty="0"/>
          </a:p>
        </p:txBody>
      </p:sp>
      <p:pic>
        <p:nvPicPr>
          <p:cNvPr id="29" name="Image 0" descr="/mnt/data/bridge_crop.png"/>
          <p:cNvPicPr>
            <a:picLocks noChangeAspect="1"/>
          </p:cNvPicPr>
          <p:nvPr/>
        </p:nvPicPr>
        <p:blipFill>
          <a:blip r:embed="rId3"/>
          <a:srcRect l="25391" r="25391"/>
          <a:stretch/>
        </p:blipFill>
        <p:spPr>
          <a:xfrm>
            <a:off x="9326880" y="1417320"/>
            <a:ext cx="2057400" cy="18288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9326880" y="3566160"/>
            <a:ext cx="2057400" cy="1051560"/>
          </a:xfrm>
          <a:prstGeom prst="roundRect">
            <a:avLst>
              <a:gd name="adj" fmla="val 6087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436608" y="3657600"/>
            <a:ext cx="18379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安全不变量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436608" y="3895344"/>
            <a:ext cx="1837944" cy="6492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 &gt; 0 ⇒ rc2 =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rc2 &gt; 0 ⇒ rc1 = 0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2960" y="5669280"/>
            <a:ext cx="10561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932688" y="5724144"/>
            <a:ext cx="10341864" cy="34747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本质：把同方向行人看成一组“共享者”，只有这一组的第一个和最后一个与桥互斥信号量 s 交互。</a:t>
            </a:r>
            <a:endParaRPr lang="en-US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完整答案（一）：安全性版本代码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左右两个方向完全对称；考试写出这一版通常即可。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5440680" cy="51206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713232" y="1243584"/>
            <a:ext cx="5202936" cy="4974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A_to_B()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P(s1);                 // 进入 rc1 临界区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rc1 = rc1 + 1;         // A 方向人数加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(rc1 == 1) P(s);    // 第一个 A 申请独木桥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V(s1);                 // 退出 rc1 临界区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过桥;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P(s1);                 // 修改 rc1 前先互斥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rc1 = rc1 - 1;         // A 方向人数减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(rc1 == 0) V(s);    // 最后一个 A 释放独木桥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V(s1);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170432"/>
            <a:ext cx="5440680" cy="51206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" name="Text 6"/>
          <p:cNvSpPr/>
          <p:nvPr/>
        </p:nvSpPr>
        <p:spPr>
          <a:xfrm>
            <a:off x="6291072" y="1243584"/>
            <a:ext cx="5202936" cy="4974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B_to_A()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P(s2);                 // 进入 rc2 临界区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rc2 = rc2 + 1;         // B 方向人数加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(rc2 == 1) P(s);    // 第一个 B 申请独木桥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V(s2);                 // 退出 rc2 临界区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过桥;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P(s2);                 // 修改 rc2 前先互斥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rc2 = rc2 - 1;         // B 方向人数减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(rc2 == 0) V(s);    // 最后一个 B 释放独木桥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V(s2);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正确性说明：为什么安全性版本成立？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从互斥、连续通过、计数一致三个角度证明。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744200" cy="685800"/>
          </a:xfrm>
          <a:prstGeom prst="roundRect">
            <a:avLst>
              <a:gd name="adj" fmla="val 933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6" name="Text 4"/>
          <p:cNvSpPr/>
          <p:nvPr/>
        </p:nvSpPr>
        <p:spPr>
          <a:xfrm>
            <a:off x="795528" y="1234440"/>
            <a:ext cx="105247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方向互斥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1472184"/>
            <a:ext cx="1052474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方向第一个人执行 P(s) 后，s=0；此时 B 方向第一个人执行 P(s) 会阻塞，所以两个方向不会同时过桥。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744200" cy="685800"/>
          </a:xfrm>
          <a:prstGeom prst="roundRect">
            <a:avLst>
              <a:gd name="adj" fmla="val 9333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9" name="Text 7"/>
          <p:cNvSpPr/>
          <p:nvPr/>
        </p:nvSpPr>
        <p:spPr>
          <a:xfrm>
            <a:off x="795528" y="2103120"/>
            <a:ext cx="105247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同向连续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" y="2340864"/>
            <a:ext cx="1052474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方向后续行人到来时 rc1 已大于 0，不再执行 P(s)，所以可连续过桥；B 方向同理。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10744200" cy="685800"/>
          </a:xfrm>
          <a:prstGeom prst="roundRect">
            <a:avLst>
              <a:gd name="adj" fmla="val 9333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2" name="Text 10"/>
          <p:cNvSpPr/>
          <p:nvPr/>
        </p:nvSpPr>
        <p:spPr>
          <a:xfrm>
            <a:off x="795528" y="2971800"/>
            <a:ext cx="105247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桥不会过早释放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3209544"/>
            <a:ext cx="1052474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 rc1 减为 0 时才 V(s)，说明 A 方向最后一个人离开；否则 B 方向不能进入。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10744200" cy="685800"/>
          </a:xfrm>
          <a:prstGeom prst="roundRect">
            <a:avLst>
              <a:gd name="adj" fmla="val 9333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5" name="Text 13"/>
          <p:cNvSpPr/>
          <p:nvPr/>
        </p:nvSpPr>
        <p:spPr>
          <a:xfrm>
            <a:off x="795528" y="3840480"/>
            <a:ext cx="105247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计数不会竞争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4078224"/>
            <a:ext cx="1052474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 的修改被 s1 保护，rc2 的修改被 s2 保护，避免两个同方向行人同时修改造成计数丢失。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FFDF9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8" name="Text 16"/>
          <p:cNvSpPr/>
          <p:nvPr/>
        </p:nvSpPr>
        <p:spPr>
          <a:xfrm>
            <a:off x="795528" y="4892040"/>
            <a:ext cx="4855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5129784"/>
            <a:ext cx="48554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满足安全性要求：不会出现两个方向同时过桥。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480060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1" name="Text 19"/>
          <p:cNvSpPr/>
          <p:nvPr/>
        </p:nvSpPr>
        <p:spPr>
          <a:xfrm>
            <a:off x="6464808" y="4892040"/>
            <a:ext cx="4855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64808" y="5129784"/>
            <a:ext cx="485546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未解决公平性：若 A 方向源源不断，B 方向可能长期等待。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sz="1600" b="0"/>
              <a:t>6</a:t>
            </a:fld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为什么还要“公平性版本”？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安全性版本不保证无饥饿：当前方向可能无限续流。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6" name="Text 4"/>
          <p:cNvSpPr/>
          <p:nvPr/>
        </p:nvSpPr>
        <p:spPr>
          <a:xfrm>
            <a:off x="84124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74650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方向到达并加入当前批次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755648"/>
            <a:ext cx="5029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" name="Shape 7"/>
          <p:cNvSpPr/>
          <p:nvPr/>
        </p:nvSpPr>
        <p:spPr>
          <a:xfrm>
            <a:off x="2651760" y="141732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" name="Text 8"/>
          <p:cNvSpPr/>
          <p:nvPr/>
        </p:nvSpPr>
        <p:spPr>
          <a:xfrm>
            <a:off x="276148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61488" y="174650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方向到达并加入当前批次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1755648"/>
            <a:ext cx="5029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4" name="Text 12"/>
          <p:cNvSpPr/>
          <p:nvPr/>
        </p:nvSpPr>
        <p:spPr>
          <a:xfrm>
            <a:off x="468172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1728" y="174650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方向到达并加入当前批次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755648"/>
            <a:ext cx="5029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8" name="Text 16"/>
          <p:cNvSpPr/>
          <p:nvPr/>
        </p:nvSpPr>
        <p:spPr>
          <a:xfrm>
            <a:off x="660196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01968" y="174650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方向到达并加入当前批次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09560" y="1755648"/>
            <a:ext cx="5029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1" name="Shape 19"/>
          <p:cNvSpPr/>
          <p:nvPr/>
        </p:nvSpPr>
        <p:spPr>
          <a:xfrm>
            <a:off x="8412480" y="141732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2" name="Text 20"/>
          <p:cNvSpPr/>
          <p:nvPr/>
        </p:nvSpPr>
        <p:spPr>
          <a:xfrm>
            <a:off x="852220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22208" y="174650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方向到达并加入当前批次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274320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5" name="Text 23"/>
          <p:cNvSpPr/>
          <p:nvPr/>
        </p:nvSpPr>
        <p:spPr>
          <a:xfrm>
            <a:off x="2029968" y="28346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到达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29968" y="3072384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s=0，只能等待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3099816"/>
            <a:ext cx="77724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8" name="Shape 26"/>
          <p:cNvSpPr/>
          <p:nvPr/>
        </p:nvSpPr>
        <p:spPr>
          <a:xfrm>
            <a:off x="4572000" y="274320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9" name="Text 27"/>
          <p:cNvSpPr/>
          <p:nvPr/>
        </p:nvSpPr>
        <p:spPr>
          <a:xfrm>
            <a:off x="4681728" y="2834640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继续来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1728" y="3072384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 一直不为 0，B 等不到释放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3099816"/>
            <a:ext cx="77724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32" name="Shape 30"/>
          <p:cNvSpPr/>
          <p:nvPr/>
        </p:nvSpPr>
        <p:spPr>
          <a:xfrm>
            <a:off x="7406640" y="2743200"/>
            <a:ext cx="2194560" cy="713232"/>
          </a:xfrm>
          <a:prstGeom prst="roundRect">
            <a:avLst>
              <a:gd name="adj" fmla="val 8974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33" name="Text 31"/>
          <p:cNvSpPr/>
          <p:nvPr/>
        </p:nvSpPr>
        <p:spPr>
          <a:xfrm>
            <a:off x="7516368" y="2834640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饥饿风险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16368" y="3072384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安全，但可能不公平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4251960"/>
            <a:ext cx="10378440" cy="502920"/>
          </a:xfrm>
          <a:prstGeom prst="rect">
            <a:avLst/>
          </a:prstGeom>
          <a:solidFill>
            <a:srgbClr val="FFF0F0"/>
          </a:solidFill>
          <a:ln w="8890">
            <a:solidFill>
              <a:srgbClr val="F2A4A4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6" name="Text 34"/>
          <p:cNvSpPr/>
          <p:nvPr/>
        </p:nvSpPr>
        <p:spPr>
          <a:xfrm>
            <a:off x="932688" y="4306824"/>
            <a:ext cx="10158984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公平改造原则：一旦对面方向有人等待，当前方向的新来者不能再加入当前批次；等当前批次全部过完后切换方向。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4400" y="516636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8" name="Text 36"/>
          <p:cNvSpPr/>
          <p:nvPr/>
        </p:nvSpPr>
        <p:spPr>
          <a:xfrm>
            <a:off x="1024128" y="5257800"/>
            <a:ext cx="28895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新增状态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4128" y="5495544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dir：当前桥方向；wa/wb：等待人数。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26280" y="516636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1" name="Text 39"/>
          <p:cNvSpPr/>
          <p:nvPr/>
        </p:nvSpPr>
        <p:spPr>
          <a:xfrm>
            <a:off x="4636008" y="5257800"/>
            <a:ext cx="28895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新增队列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36008" y="5495544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qa/qb：两个方向等待队列。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138160" y="516636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44" name="Text 42"/>
          <p:cNvSpPr/>
          <p:nvPr/>
        </p:nvSpPr>
        <p:spPr>
          <a:xfrm>
            <a:off x="8247888" y="5257800"/>
            <a:ext cx="28895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切换规则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47888" y="5495544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当前方向人数清零后，优先唤醒对向等待者。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 + 公平性版本：变量设计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用“批次”控制桥的方向切换，防止一方无限续流。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532120" cy="48920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294376" cy="4745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mutex = 1;       // 保护所有共享变量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qa = 0;          // A→B 方向等待队列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qb = 0;          // B→A 方向等待队列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na = 0;                // A 方向已获准过桥人数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nb = 0;                // B 方向已获准过桥人数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wa = 0;                // A 方向等待人数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wb = 0;                // B 方向等待人数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dir = 0;               // 当前桥方向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// 0：桥空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// 1：A→B 占用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// 2：B→A 占用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37960" y="1234440"/>
            <a:ext cx="4480560" cy="777240"/>
          </a:xfrm>
          <a:prstGeom prst="roundRect">
            <a:avLst>
              <a:gd name="adj" fmla="val 8235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8" name="Text 6"/>
          <p:cNvSpPr/>
          <p:nvPr/>
        </p:nvSpPr>
        <p:spPr>
          <a:xfrm>
            <a:off x="6647688" y="132588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47688" y="1563624"/>
            <a:ext cx="4261104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决定桥当前属于哪个方向，是方向安全的核心。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2240280"/>
            <a:ext cx="4480560" cy="777240"/>
          </a:xfrm>
          <a:prstGeom prst="roundRect">
            <a:avLst>
              <a:gd name="adj" fmla="val 8235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1" name="Text 9"/>
          <p:cNvSpPr/>
          <p:nvPr/>
        </p:nvSpPr>
        <p:spPr>
          <a:xfrm>
            <a:off x="6647688" y="233172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 / nb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47688" y="2569464"/>
            <a:ext cx="4261104" cy="3749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表示已获准进入当前批次的人数，避免过早切换方向。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3246120"/>
            <a:ext cx="4480560" cy="777240"/>
          </a:xfrm>
          <a:prstGeom prst="roundRect">
            <a:avLst>
              <a:gd name="adj" fmla="val 8235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4" name="Text 12"/>
          <p:cNvSpPr/>
          <p:nvPr/>
        </p:nvSpPr>
        <p:spPr>
          <a:xfrm>
            <a:off x="6647688" y="333756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 / wb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47688" y="3575304"/>
            <a:ext cx="4261104" cy="3749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表示对方是否在等待；一旦对方等待，本方向新人不再插队。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4251960"/>
            <a:ext cx="4480560" cy="777240"/>
          </a:xfrm>
          <a:prstGeom prst="roundRect">
            <a:avLst>
              <a:gd name="adj" fmla="val 8235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7" name="Text 15"/>
          <p:cNvSpPr/>
          <p:nvPr/>
        </p:nvSpPr>
        <p:spPr>
          <a:xfrm>
            <a:off x="6647688" y="434340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qa / qb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7688" y="4581144"/>
            <a:ext cx="4261104" cy="374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阻塞等待者；方向切换时批量唤醒。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公平性机制：对向等待后，当前方向停止续流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核心是“当前批次结束后，必须交给等待的对向”。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645920" y="1920240"/>
            <a:ext cx="123444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6" name="Shape 4"/>
          <p:cNvSpPr/>
          <p:nvPr/>
        </p:nvSpPr>
        <p:spPr>
          <a:xfrm>
            <a:off x="4343400" y="1920240"/>
            <a:ext cx="137160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7" name="Shape 5"/>
          <p:cNvSpPr/>
          <p:nvPr/>
        </p:nvSpPr>
        <p:spPr>
          <a:xfrm>
            <a:off x="7223760" y="1920240"/>
            <a:ext cx="132588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8" name="Shape 6"/>
          <p:cNvSpPr/>
          <p:nvPr/>
        </p:nvSpPr>
        <p:spPr>
          <a:xfrm>
            <a:off x="9921240" y="1920240"/>
            <a:ext cx="64008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9" name="Shape 7"/>
          <p:cNvSpPr/>
          <p:nvPr/>
        </p:nvSpPr>
        <p:spPr>
          <a:xfrm>
            <a:off x="5029200" y="3794760"/>
            <a:ext cx="15087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0" name="Shape 8"/>
          <p:cNvSpPr/>
          <p:nvPr/>
        </p:nvSpPr>
        <p:spPr>
          <a:xfrm>
            <a:off x="8001000" y="3794760"/>
            <a:ext cx="137160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123444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2" name="Text 10"/>
          <p:cNvSpPr/>
          <p:nvPr/>
        </p:nvSpPr>
        <p:spPr>
          <a:xfrm>
            <a:off x="438912" y="16002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正在过桥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" y="1837944"/>
            <a:ext cx="83210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na&gt;0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0360" y="150876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5" name="Text 13"/>
          <p:cNvSpPr/>
          <p:nvPr/>
        </p:nvSpPr>
        <p:spPr>
          <a:xfrm>
            <a:off x="2990088" y="160020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到达等待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0088" y="1837944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P(qb)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15000" y="1508760"/>
            <a:ext cx="1508760" cy="822960"/>
          </a:xfrm>
          <a:prstGeom prst="roundRect">
            <a:avLst>
              <a:gd name="adj" fmla="val 777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8" name="Text 16"/>
          <p:cNvSpPr/>
          <p:nvPr/>
        </p:nvSpPr>
        <p:spPr>
          <a:xfrm>
            <a:off x="5824728" y="1600200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 A 到达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24728" y="1837944"/>
            <a:ext cx="128930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wb&gt;0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不能加入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49640" y="150876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1" name="Text 19"/>
          <p:cNvSpPr/>
          <p:nvPr/>
        </p:nvSpPr>
        <p:spPr>
          <a:xfrm>
            <a:off x="8659368" y="160020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批次结束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59368" y="1837944"/>
            <a:ext cx="115214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na==0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61320" y="1508760"/>
            <a:ext cx="960120" cy="822960"/>
          </a:xfrm>
          <a:prstGeom prst="roundRect">
            <a:avLst>
              <a:gd name="adj" fmla="val 777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Text 22"/>
          <p:cNvSpPr/>
          <p:nvPr/>
        </p:nvSpPr>
        <p:spPr>
          <a:xfrm>
            <a:off x="10671048" y="1600200"/>
            <a:ext cx="7406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切到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71048" y="1837944"/>
            <a:ext cx="74066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V(qb)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33832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7" name="Text 25"/>
          <p:cNvSpPr/>
          <p:nvPr/>
        </p:nvSpPr>
        <p:spPr>
          <a:xfrm>
            <a:off x="3584448" y="3474720"/>
            <a:ext cx="13350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批次运行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84448" y="3712464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nb&gt;0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338328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0" name="Text 28"/>
          <p:cNvSpPr/>
          <p:nvPr/>
        </p:nvSpPr>
        <p:spPr>
          <a:xfrm>
            <a:off x="6647688" y="347472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等待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47688" y="3712464"/>
            <a:ext cx="124358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P(qa)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72600" y="338328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3" name="Text 31"/>
          <p:cNvSpPr/>
          <p:nvPr/>
        </p:nvSpPr>
        <p:spPr>
          <a:xfrm>
            <a:off x="9482328" y="3474720"/>
            <a:ext cx="11064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再切回 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82328" y="3712464"/>
            <a:ext cx="110642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V(qa)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5166360"/>
            <a:ext cx="10561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6968" y="5221224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公平性不等于强制轮流：只有当对方有人等待时，才禁止当前方向继续续流；若对方无人等待，当前方向仍可连续通过。</a:t>
            </a:r>
            <a:endParaRPr lang="en-US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完整答案（二）：安全性 + 公平性代码框架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左右方向对称，下面给出 A→B；B→A 将 A/B、qa/qb、wa/wb、na/nb 对调即可。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6400800" cy="530352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13232" y="1216152"/>
            <a:ext cx="6163056" cy="5157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A_to_B()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(dir == 0 || (dir == 1 &amp;&amp; wb == 0))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dir = 1;              // 桥空或 A 方向且 B 无等待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na++;                 // 加入 A 当前批次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V(mutex);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wa++;                 // A 不能插队，进入等待队列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V(mutex);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P(qa);                // 等待切换到 A 方向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过桥;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na--;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if (na == 0) {            // A 当前批次结束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(wb &gt; 0) {         // 对向有人等，必须切给 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int k = wb; wb = 0; nb = k; dir = 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for (int i=0; i&lt;k; i++) V(qb);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dir = 0;          // 无对向等待，桥空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23444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8" name="Text 6"/>
          <p:cNvSpPr/>
          <p:nvPr/>
        </p:nvSpPr>
        <p:spPr>
          <a:xfrm>
            <a:off x="7424928" y="1325880"/>
            <a:ext cx="3941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入口条件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24928" y="1563624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dir==0：桥空；dir==1 且 wb==0：A 可继续。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33172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1" name="Text 9"/>
          <p:cNvSpPr/>
          <p:nvPr/>
        </p:nvSpPr>
        <p:spPr>
          <a:xfrm>
            <a:off x="7424928" y="2423160"/>
            <a:ext cx="3941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禁止插队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24928" y="2660904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wb&gt;0，新的 A 进入 wa 并阻塞在 qa。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42900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4" name="Text 12"/>
          <p:cNvSpPr/>
          <p:nvPr/>
        </p:nvSpPr>
        <p:spPr>
          <a:xfrm>
            <a:off x="7424928" y="3520440"/>
            <a:ext cx="3941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批次切换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24928" y="3758184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批次结束且 B 等待，则设置 dir=2 并唤醒 qb。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52628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7" name="Text 15"/>
          <p:cNvSpPr/>
          <p:nvPr/>
        </p:nvSpPr>
        <p:spPr>
          <a:xfrm>
            <a:off x="7424928" y="4617720"/>
            <a:ext cx="3941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+ 公平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24928" y="4855464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 保证方向互斥；等待标记保证无饥饿。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一页记忆：第五题同步问题口诀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先掌握标准安全性版本，再理解公平性扩展。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bridge_crop.png"/>
          <p:cNvPicPr>
            <a:picLocks noChangeAspect="1"/>
          </p:cNvPicPr>
          <p:nvPr/>
        </p:nvPicPr>
        <p:blipFill>
          <a:blip r:embed="rId3"/>
          <a:srcRect l="15000" r="15000"/>
          <a:stretch/>
        </p:blipFill>
        <p:spPr>
          <a:xfrm>
            <a:off x="640080" y="1234440"/>
            <a:ext cx="29260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11430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7" name="Text 4"/>
          <p:cNvSpPr/>
          <p:nvPr/>
        </p:nvSpPr>
        <p:spPr>
          <a:xfrm>
            <a:off x="4041648" y="1234440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安全性版本口诀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41648" y="1472184"/>
            <a:ext cx="325526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第一个人 P(s)，最后一个人 V(s)。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同方向中间人只改计数。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09560" y="11430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0" name="Text 7"/>
          <p:cNvSpPr/>
          <p:nvPr/>
        </p:nvSpPr>
        <p:spPr>
          <a:xfrm>
            <a:off x="8019288" y="1234440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公平性版本口诀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19288" y="1472184"/>
            <a:ext cx="325526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对面有人等，本方向新人停；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当前批次完，切换给对面。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36576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95528" y="3749040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95528" y="3986784"/>
            <a:ext cx="215798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独木桥方向互斥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520440" y="36576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630168" y="3749040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 / s2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630168" y="3986784"/>
            <a:ext cx="215798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rc1 / rc2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355080" y="36576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464808" y="3749040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64808" y="3986784"/>
            <a:ext cx="215798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桥当前方向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89720" y="36576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299448" y="3749040"/>
            <a:ext cx="21579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 / wb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299448" y="3986784"/>
            <a:ext cx="2157984" cy="2834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对向等待标记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822960" y="5532120"/>
            <a:ext cx="10561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2"/>
          <p:cNvSpPr/>
          <p:nvPr/>
        </p:nvSpPr>
        <p:spPr>
          <a:xfrm>
            <a:off x="932688" y="5586984"/>
            <a:ext cx="1045159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结论：安全性版本适合考试标准解；若题目明确要求“公平/防饥饿”，必须使用扩展版本。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bakery_café_counter_are.png"/>
          <p:cNvPicPr>
            <a:picLocks noChangeAspect="1"/>
          </p:cNvPicPr>
          <p:nvPr/>
        </p:nvPicPr>
        <p:blipFill>
          <a:blip r:embed="rId3"/>
          <a:srcRect l="20000" r="18045"/>
          <a:stretch/>
        </p:blipFill>
        <p:spPr>
          <a:xfrm>
            <a:off x="5806440" y="502920"/>
            <a:ext cx="5989320" cy="5440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515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第六题：面包师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取号叫号同步问题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P/V 答案 · 详细注释版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48920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目标：让顾客按序取号等待，让 n 个销售人员按序叫号并销售，避免忙等、重复叫号和错叫号。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第六题 · 面包师/销售人员/顾客同步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题目拆解：同步关系是什么？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从自然语言题干转成同步互斥模型。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原题核心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29184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顾客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进店后先按序取号，然后等待叫号。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1508760"/>
            <a:ext cx="329184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销售人员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空闲时叫下一个号，并为被叫到的顾客销售面包。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6760" y="1508760"/>
            <a:ext cx="32461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多销售人员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个销售人员并发，必须避免重复叫同一个号。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22192" y="2057400"/>
            <a:ext cx="521208" cy="0"/>
          </a:xfrm>
          <a:prstGeom prst="line">
            <a:avLst/>
          </a:prstGeom>
          <a:noFill/>
          <a:ln w="2286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754112" y="2057400"/>
            <a:ext cx="521208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应保证的 4 个性质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5074920" cy="685800"/>
          </a:xfrm>
          <a:prstGeom prst="rect">
            <a:avLst/>
          </a:prstGeom>
          <a:solidFill>
            <a:srgbClr val="FFEDD5"/>
          </a:solidFill>
          <a:ln w="1524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取号互斥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多个顾客同时来，也不能取到同一个号。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5074920" cy="685800"/>
          </a:xfrm>
          <a:prstGeom prst="rect">
            <a:avLst/>
          </a:prstGeom>
          <a:solidFill>
            <a:srgbClr val="FFEDD5"/>
          </a:solidFill>
          <a:ln w="1524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叫号互斥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多个销售人员同时空闲，也不能叫同一个号。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5074920" cy="685800"/>
          </a:xfrm>
          <a:prstGeom prst="rect">
            <a:avLst/>
          </a:prstGeom>
          <a:solidFill>
            <a:srgbClr val="DBEAFE"/>
          </a:solidFill>
          <a:ln w="1524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叫号同步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没有顾客时销售人员阻塞，不忙等。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0" y="4663440"/>
            <a:ext cx="5074920" cy="685800"/>
          </a:xfrm>
          <a:prstGeom prst="rect">
            <a:avLst/>
          </a:prstGeom>
          <a:solidFill>
            <a:srgbClr val="DBEAFE"/>
          </a:solidFill>
          <a:ln w="1524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精准唤醒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号被叫到，只唤醒 k 号顾客。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变量与信号量：把“排队叫号”建模成 P/V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负责发号；j 负责叫号；数组信号量负责按号码唤醒。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完整严谨版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508760" cy="384048"/>
          </a:xfrm>
          <a:prstGeom prst="rect">
            <a:avLst/>
          </a:prstGeom>
          <a:solidFill>
            <a:srgbClr val="D97706"/>
          </a:solidFill>
          <a:ln w="1524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508760"/>
            <a:ext cx="3108960" cy="384048"/>
          </a:xfrm>
          <a:prstGeom prst="rect">
            <a:avLst/>
          </a:prstGeom>
          <a:solidFill>
            <a:srgbClr val="D97706"/>
          </a:solidFill>
          <a:ln w="1524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508760"/>
            <a:ext cx="5852160" cy="384048"/>
          </a:xfrm>
          <a:prstGeom prst="rect">
            <a:avLst/>
          </a:prstGeom>
          <a:solidFill>
            <a:srgbClr val="D97706"/>
          </a:solidFill>
          <a:ln w="15240">
            <a:solidFill>
              <a:srgbClr val="B4530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当前可发放的号码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顾客取号后 i++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441448"/>
            <a:ext cx="15087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j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94560" y="2441448"/>
            <a:ext cx="31089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当前应叫的号码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441448"/>
            <a:ext cx="58521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销售人员叫号后 j++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916936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mutex_i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94560" y="2916936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916936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保证顾客互斥取号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392424"/>
            <a:ext cx="15087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mutex_j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194560" y="3392424"/>
            <a:ext cx="31089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j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392424"/>
            <a:ext cx="58521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保证销售人员互斥叫号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67912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94560" y="3867912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等待顾客数量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867912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没有顾客时销售人员阻塞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343400"/>
            <a:ext cx="15087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called[k]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94560" y="4343400"/>
            <a:ext cx="31089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号是否被叫到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4343400"/>
            <a:ext cx="58521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只唤醒对应号码顾客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818888"/>
            <a:ext cx="1508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arrived[k]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194560" y="481888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号是否到柜台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4818888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叫号后等待顾客到达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294376"/>
            <a:ext cx="15087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finished[k]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194560" y="5294376"/>
            <a:ext cx="31089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号购买是否完成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5294376"/>
            <a:ext cx="585216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7D6BE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顾客等销售完成后离开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mutex 解决互斥，customers 解决“有无顾客”，called[k] 解决“叫到谁”。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总体机制：顾客发号，销售人员叫号，信号量负责同步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下面的流程图说明完整算法中每个同步点的位置。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流程总览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2514600" y="1874520"/>
            <a:ext cx="1188720" cy="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4920" y="1874520"/>
            <a:ext cx="1188720" cy="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635240" y="1874520"/>
            <a:ext cx="1188720" cy="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514600" y="4572000"/>
            <a:ext cx="11887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74920" y="4572000"/>
            <a:ext cx="11887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635240" y="4572000"/>
            <a:ext cx="11887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508760"/>
            <a:ext cx="1828800" cy="731520"/>
          </a:xfrm>
          <a:prstGeom prst="rect">
            <a:avLst/>
          </a:prstGeom>
          <a:solidFill>
            <a:srgbClr val="FFEDD5"/>
          </a:solidFill>
          <a:ln w="1524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P(mutex_i) 取号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1508760"/>
            <a:ext cx="1188720" cy="73152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V(customers)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1188720" cy="73152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P(called[k])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等待叫号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15400" y="1508760"/>
            <a:ext cx="2194560" cy="731520"/>
          </a:xfrm>
          <a:prstGeom prst="rect">
            <a:avLst/>
          </a:prstGeom>
          <a:solidFill>
            <a:srgbClr val="FFEDD5"/>
          </a:solidFill>
          <a:ln w="15240">
            <a:solidFill>
              <a:srgbClr val="D9770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V(arrived[k])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到柜台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206240"/>
            <a:ext cx="182880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销售人员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P(customers)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94760" y="4206240"/>
            <a:ext cx="118872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P(mutex_j)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叫 j 号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4206240"/>
            <a:ext cx="118872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V(called[j])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唤醒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5400" y="4206240"/>
            <a:ext cx="219456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P(arrived[j])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销售后 V(finished[j])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2331720"/>
            <a:ext cx="0" cy="1783080"/>
          </a:xfrm>
          <a:prstGeom prst="line">
            <a:avLst/>
          </a:prstGeom>
          <a:noFill/>
          <a:ln w="2286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949440" y="4114800"/>
            <a:ext cx="0" cy="0"/>
          </a:xfrm>
          <a:prstGeom prst="line">
            <a:avLst/>
          </a:prstGeom>
          <a:noFill/>
          <a:ln w="2286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966960" y="2331720"/>
            <a:ext cx="0" cy="1783080"/>
          </a:xfrm>
          <a:prstGeom prst="line">
            <a:avLst/>
          </a:prstGeom>
          <a:noFill/>
          <a:ln w="2286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E7D6B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同步含义：顾客先发出 customers；销售人员再按 j 叫号；被叫顾客通过 called[k] 被精准唤醒。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完整答案（一）：变量与初始化代码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初始化决定了同步语义：哪些资源可用，哪些事件尚未发生。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1/4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6537960" cy="4800600"/>
          </a:xfrm>
          <a:prstGeom prst="rect">
            <a:avLst/>
          </a:prstGeom>
          <a:solidFill>
            <a:srgbClr val="1F2937">
              <a:alpha val="4000"/>
            </a:srgbClr>
          </a:solidFill>
          <a:ln w="1143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#define MAX 10000        // 假设最多发放 MAX 个号码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i = 0;               // 当前可发放的取号值：0,1,2,...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j = 0;               // 当前应叫的号码：0,1,2,...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mutex_i = 1;   // 保护 i：顾客取号必须互斥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mutex_j = 1;   // 保护 j：多个销售人员叫号必须互斥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customers = 0; // 已取号且正在等待叫号的顾客数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             // 初值 0：没有顾客时销售人员阻塞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called[MAX];   // called[k]：k 号顾客是否被叫到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arrived[MAX];  // arrived[k]：k 号顾客是否到达柜台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finished[MAX]; // finished[k]：k 号购买是否完成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for (int k = 0; k &lt; MAX; k++) {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called[k] = 0;       // 一开始没有任何号码被叫到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arrived[k] = 0;      // 一开始没有顾客到柜台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finished[k] = 0;     // 一开始没有购买完成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543800" y="1463040"/>
            <a:ext cx="3977640" cy="960120"/>
          </a:xfrm>
          <a:prstGeom prst="rect">
            <a:avLst/>
          </a:prstGeom>
          <a:solidFill>
            <a:srgbClr val="FFEDD5"/>
          </a:solidFill>
          <a:ln w="1524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1：i 与 j 分离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用于取号，j 用于叫号。二者不能混用，否则会出现等待错误。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2697480"/>
            <a:ext cx="3977640" cy="960120"/>
          </a:xfrm>
          <a:prstGeom prst="rect">
            <a:avLst/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2：customers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它是计数信号量，不是普通变量；每个顾客取号后 V 一次。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3931920"/>
            <a:ext cx="3977640" cy="96012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3：called[k]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每个号码一个等待点，保证只唤醒被叫到的顾客。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完整答案（二）：顾客进程 Customer()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顾客先取号，再等待自己的号码被叫到。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2/4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6949440" cy="4956048"/>
          </a:xfrm>
          <a:prstGeom prst="rect">
            <a:avLst/>
          </a:prstGeom>
          <a:solidFill>
            <a:srgbClr val="1F2937">
              <a:alpha val="4000"/>
            </a:srgbClr>
          </a:solidFill>
          <a:ln w="1143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process Customer()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my_number;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保存当前顾客自己的号码；不能直接等待全局变量 i，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因为 i 会被后续顾客继续修改。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进入面包店;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P(mutex_i);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进入取号临界区，防止多个顾客同时修改 i。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my_number = i;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当前顾客拿到号码 i。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i = i + 1;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下一个顾客将拿到下一个号码。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V(mutex_i);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V(customers);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通知销售人员：已经有一个顾客取号并等待。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P(called[my_number]);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阻塞等待，直到销售人员叫到自己的号码。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V(arrived[my_number]);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听到叫号后到柜台，并通知销售人员“我到了”。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P(finished[my_number]);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// 等待销售人员完成销售。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离开面包店;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818120" y="1463040"/>
            <a:ext cx="3611880" cy="960120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为什么保存 my_number？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全局变量 i 会变化；顾客必须记住自己真正取到的号码。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8120" y="2743200"/>
            <a:ext cx="3611880" cy="960120"/>
          </a:xfrm>
          <a:prstGeom prst="rect">
            <a:avLst/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V(customers)？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让销售人员从“无顾客阻塞”状态中被唤醒。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8120" y="4023360"/>
            <a:ext cx="3611880" cy="96012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P(called[k])？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顾客在自己的号码被叫到前不能购买。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完整答案（三）：销售人员进程 Seller()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个销售人员执行同一段代码，但叫号区域必须互斥。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3/4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7086600" cy="4919472"/>
          </a:xfrm>
          <a:prstGeom prst="rect">
            <a:avLst/>
          </a:prstGeom>
          <a:solidFill>
            <a:srgbClr val="1F2937">
              <a:alpha val="4000"/>
            </a:srgbClr>
          </a:solidFill>
          <a:ln w="1143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process Seller()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number;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while (true)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P(customers);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没有顾客时阻塞；有顾客取号后才能继续。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这避免了“休息片刻”的忙等。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P(mutex_j);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// 进入叫号临界区，防止多个销售人员重复叫号。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number = j;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// 取得当前应该叫的号码。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j = j + 1;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// 下一个销售人员将叫下一个号码。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叫号(number);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// 叫出 number 号顾客。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V(called[number]);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// 精准唤醒 number 号顾客。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V(mutex_j);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P(arrived[number]);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等待被叫到的顾客来到柜台。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销售面包给 number 号顾客;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V(finished[number]);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// 通知该顾客购买完成，可以离开。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955280" y="1417320"/>
            <a:ext cx="3474720" cy="960120"/>
          </a:xfrm>
          <a:prstGeom prst="rect">
            <a:avLst/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P(customers)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没有顾客则销售人员睡眠等待，不进行轮询。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697480"/>
            <a:ext cx="3474720" cy="960120"/>
          </a:xfrm>
          <a:prstGeom prst="rect">
            <a:avLst/>
          </a:prstGeom>
          <a:solidFill>
            <a:srgbClr val="FFEDD5"/>
          </a:solidFill>
          <a:ln w="1524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P(mutex_j)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个销售人员只能一个一个地取 j，防止重复叫号。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3977640"/>
            <a:ext cx="3474720" cy="96012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V(called[number])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只唤醒对应号码，避免所有顾客同时被唤醒。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正确性说明：为什么这个算法成立？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用互斥性、同步性和顺序性三个角度检查。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证明要点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881360" cy="713232"/>
          </a:xfrm>
          <a:prstGeom prst="rect">
            <a:avLst/>
          </a:prstGeom>
          <a:solidFill>
            <a:srgbClr val="FFEDD5"/>
          </a:solidFill>
          <a:ln w="1524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顾客按序取号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P(mutex_i) 保护 i，所以每次只有一个顾客能取号。号码为 0,1,2,...，不会重复。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10881360" cy="71323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销售人员按序叫号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P(mutex_j) 保护 j，所以多个销售人员不会同时叫同一个号，也不会跳号。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10881360" cy="713232"/>
          </a:xfrm>
          <a:prstGeom prst="rect">
            <a:avLst/>
          </a:prstGeom>
          <a:solidFill>
            <a:srgbClr val="F3E8FF"/>
          </a:solidFill>
          <a:ln w="15240">
            <a:solidFill>
              <a:srgbClr val="7E22C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E22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没有顾客则阻塞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P(customers) 让销售人员在没有顾客时睡眠等待，不忙等。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10881360" cy="713232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精准唤醒顾客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P(called[k]) / V(called[k]) 让 k 号顾客只在 k 号被叫到时继续。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166360"/>
            <a:ext cx="10881360" cy="713232"/>
          </a:xfrm>
          <a:prstGeom prst="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完整交易同步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arrived[k] 与 finished[k] 保证叫号、到柜台、销售、离开形成闭环。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考试可写的简化版答案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如果不要求模拟“顾客到柜台”和“销售完成”的握手，可省略 arrived/finished。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4/4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7086600" cy="4919472"/>
          </a:xfrm>
          <a:prstGeom prst="rect">
            <a:avLst/>
          </a:prstGeom>
          <a:solidFill>
            <a:srgbClr val="1F2937">
              <a:alpha val="4000"/>
            </a:srgbClr>
          </a:solidFill>
          <a:ln w="1143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i = 0, j = 0;              // i 为取号值，j 为叫号值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mutex_i = 1;        // 保护 i，保证取号互斥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mutex_j = 1;        // 保护 j，保证叫号互斥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customers = 0;      // 已取号等待的顾客数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semaphore called[MAX];        // called[k] 初值均为 0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process Customer()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my_number;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P(mutex_i);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my_number = i;       // 保存自己的号码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i = i + 1;           // 发出下一个号码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V(mutex_i);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V(customers);            // 通知销售人员有顾客等待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P(called[my_number]);    // 等待自己的号码被叫到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购买面包;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process Seller()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number;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while (true) 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P(customers);        // 没有顾客时阻塞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P(mutex_j);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number = j;      // 按序取得本次应叫号码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j = j + 1;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叫号(number);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    V(called[number]); // 唤醒对应号码的顾客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V(mutex_j);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销售面包;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C191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7955280" y="1600200"/>
            <a:ext cx="3566160" cy="914400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考试答案通常写到“顾客等待自己的号、销售人员按序叫号”即可。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55280" y="2880360"/>
            <a:ext cx="3566160" cy="914400"/>
          </a:xfrm>
          <a:prstGeom prst="rect">
            <a:avLst/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比参考答案更严谨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显式给出 customers 与 called[k]，不再用“等待叫号”一句话代替同步。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955280" y="4160520"/>
            <a:ext cx="3566160" cy="91440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核心不能省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my_number 必须保存；P/V 必须体现阻塞和唤醒。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与原参考答案的差异：哪里需要补全？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原答案思路基本对，但严格同步算法需要补出阻塞与唤醒。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答案评价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120640" cy="105156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原参考答案的优点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i 与 j 表示取号值和叫号值，并用互斥量保护，是正确的基本方向。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5120640" cy="1051560"/>
          </a:xfrm>
          <a:prstGeom prst="rect">
            <a:avLst/>
          </a:prstGeom>
          <a:solidFill>
            <a:srgbClr val="FEE2E2"/>
          </a:solidFill>
          <a:ln w="15240">
            <a:solidFill>
              <a:srgbClr val="FCA5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原参考答案的不足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“等待叫号”没有对应 P/V；顾客也没有保存自己的号码；销售人员无顾客时偏向轮询。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改进后的关键补充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3317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my_number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保存自己的号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23317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customers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顾客数计数信号量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3703320"/>
            <a:ext cx="23317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15803D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called[k]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按号码精准唤醒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3703320"/>
            <a:ext cx="2331720" cy="548640"/>
          </a:xfrm>
          <a:prstGeom prst="rect">
            <a:avLst/>
          </a:prstGeom>
          <a:solidFill>
            <a:srgbClr val="FFFFFF"/>
          </a:solidFill>
          <a:ln w="13970">
            <a:solidFill>
              <a:srgbClr val="7E22C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22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mutex_j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E22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多个销售人员互斥叫号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7D6B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结论：若按严格 P/V 同步算法评分，建议使用本 PPT 中的完整版或简化版答案。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操作系统原理 · 进程同步与互斥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F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一页记忆：第六题同步口诀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040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5F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用这个结构快速写出考试答案。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0"/>
          </a:xfrm>
          <a:prstGeom prst="line">
            <a:avLst/>
          </a:prstGeom>
          <a:noFill/>
          <a:ln w="13970">
            <a:solidFill>
              <a:srgbClr val="E7D6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060704"/>
            <a:ext cx="2377440" cy="23774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速记总结</a:t>
            </a:r>
            <a:endParaRPr lang="en-US" sz="1220" dirty="0"/>
          </a:p>
        </p:txBody>
      </p:sp>
      <p:pic>
        <p:nvPicPr>
          <p:cNvPr id="7" name="Image 0" descr="/mnt/data/wide_interior_scene_of_a_bakery_café_counter_are.png"/>
          <p:cNvPicPr>
            <a:picLocks noChangeAspect="1"/>
          </p:cNvPicPr>
          <p:nvPr/>
        </p:nvPicPr>
        <p:blipFill>
          <a:blip r:embed="rId3"/>
          <a:srcRect l="45000" r="13652"/>
          <a:stretch/>
        </p:blipFill>
        <p:spPr>
          <a:xfrm>
            <a:off x="594360" y="1463040"/>
            <a:ext cx="329184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1960" y="1325880"/>
            <a:ext cx="7040880" cy="804672"/>
          </a:xfrm>
          <a:prstGeom prst="rect">
            <a:avLst/>
          </a:prstGeom>
          <a:solidFill>
            <a:srgbClr val="FFEDD5"/>
          </a:solidFill>
          <a:ln w="15240">
            <a:solidFill>
              <a:srgbClr val="FDBA7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顾客：P(mutex_i) → 取 my_number=i → i++ → V(mutex_i)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51960" y="2423160"/>
            <a:ext cx="7040880" cy="804672"/>
          </a:xfrm>
          <a:prstGeom prst="rect">
            <a:avLst/>
          </a:prstGeom>
          <a:solidFill>
            <a:srgbClr val="FEF3C7"/>
          </a:solidFill>
          <a:ln w="1524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顾客：V(customers)，表示“已有一个顾客等待叫号”。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3520440"/>
            <a:ext cx="7040880" cy="804672"/>
          </a:xfrm>
          <a:prstGeom prst="rect">
            <a:avLst/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销售人员：P(customers) → P(mutex_j) → number=j → j++。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51960" y="4617720"/>
            <a:ext cx="7040880" cy="804672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销售人员：V(called[number])；顾客：P(called[my_number]) 后购买。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6080760"/>
            <a:ext cx="10424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1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核心：两个互斥量管 i/j，一个计数信号量管顾客数量，一个数组信号量管“叫到谁”。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1480" y="65471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7A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第六题 · 完整 P/V 解法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双零件装配仓库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同步问题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408 压轴级 · P/V 操作 · 完整注释版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目标：同时处理有界仓库、A/B 成对消费、检修员独占、公平等待与无死锁。</a:t>
            </a:r>
            <a:endParaRPr lang="en-US" sz="1600" dirty="0"/>
          </a:p>
        </p:txBody>
      </p:sp>
      <p:pic>
        <p:nvPicPr>
          <p:cNvPr id="5" name="Image 0" descr="/mnt/data/wide_clean_vector_flat_illustration_scene_of_an.png"/>
          <p:cNvPicPr>
            <a:picLocks noChangeAspect="1"/>
          </p:cNvPicPr>
          <p:nvPr/>
        </p:nvPicPr>
        <p:blipFill>
          <a:blip r:embed="rId3"/>
          <a:srcRect l="20270" r="20270"/>
          <a:stretch/>
        </p:blipFill>
        <p:spPr>
          <a:xfrm>
            <a:off x="5349240" y="0"/>
            <a:ext cx="6839712" cy="6473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1605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模型抽象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443484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ProducerA / ProducerB：放入 A、B 零件
• Assembler：必须同时取出 1 个 A 与 1 个 B
• Inspector：检修时独占仓库，且不能被无限插队
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823536-4509-C8B8-B3BE-B6300A1FC96F}"/>
              </a:ext>
            </a:extLst>
          </p:cNvPr>
          <p:cNvSpPr txBox="1"/>
          <p:nvPr/>
        </p:nvSpPr>
        <p:spPr>
          <a:xfrm>
            <a:off x="813916" y="1097119"/>
            <a:ext cx="943540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prstClr val="black"/>
                </a:solidFill>
                <a:latin typeface="Times-Bold"/>
              </a:rPr>
              <a:t>题目：双零件装配仓库同步问题</a:t>
            </a:r>
            <a:endParaRPr lang="en-US" altLang="zh-CN" sz="3600" b="1" dirty="0">
              <a:solidFill>
                <a:prstClr val="black"/>
              </a:solidFill>
              <a:latin typeface="Times-Bold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某工厂有一个容量为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N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的仓库，仓库中可以存放两类零件：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A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型零件和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B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型零件。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系统中有三类进程：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ProducerA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生产一个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A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型零件并放入仓库；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 err="1">
                <a:solidFill>
                  <a:prstClr val="black"/>
                </a:solidFill>
                <a:latin typeface="Courier" panose="02070309020205020404" pitchFamily="49" charset="0"/>
              </a:rPr>
              <a:t>ProducerB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生产一个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B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型零件并放入仓库；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Assembler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每次必须从仓库中同时取出 </a:t>
            </a:r>
            <a:r>
              <a:rPr lang="en-US" altLang="zh-CN" sz="1800" b="1" dirty="0">
                <a:solidFill>
                  <a:prstClr val="black"/>
                </a:solidFill>
                <a:latin typeface="Times-Bold"/>
              </a:rPr>
              <a:t>1 </a:t>
            </a:r>
            <a:r>
              <a:rPr lang="zh-CN" altLang="en-US" sz="1800" b="1" dirty="0">
                <a:solidFill>
                  <a:prstClr val="black"/>
                </a:solidFill>
                <a:latin typeface="Times-Bold"/>
              </a:rPr>
              <a:t>个 </a:t>
            </a:r>
            <a:r>
              <a:rPr lang="en" altLang="zh-CN" sz="1800" b="1" dirty="0">
                <a:solidFill>
                  <a:prstClr val="black"/>
                </a:solidFill>
                <a:latin typeface="Times-Bold"/>
              </a:rPr>
              <a:t>A </a:t>
            </a:r>
            <a:r>
              <a:rPr lang="zh-CN" altLang="en-US" sz="1800" b="1" dirty="0">
                <a:solidFill>
                  <a:prstClr val="black"/>
                </a:solidFill>
                <a:latin typeface="Times-Bold"/>
              </a:rPr>
              <a:t>型零件和 </a:t>
            </a:r>
            <a:r>
              <a:rPr lang="en-US" altLang="zh-CN" sz="1800" b="1" dirty="0">
                <a:solidFill>
                  <a:prstClr val="black"/>
                </a:solidFill>
                <a:latin typeface="Times-Bold"/>
              </a:rPr>
              <a:t>1 </a:t>
            </a:r>
            <a:r>
              <a:rPr lang="zh-CN" altLang="en-US" sz="1800" b="1" dirty="0">
                <a:solidFill>
                  <a:prstClr val="black"/>
                </a:solidFill>
                <a:latin typeface="Times-Bold"/>
              </a:rPr>
              <a:t>个 </a:t>
            </a:r>
            <a:r>
              <a:rPr lang="en" altLang="zh-CN" sz="1800" b="1" dirty="0">
                <a:solidFill>
                  <a:prstClr val="black"/>
                </a:solidFill>
                <a:latin typeface="Times-Bold"/>
              </a:rPr>
              <a:t>B </a:t>
            </a:r>
            <a:r>
              <a:rPr lang="zh-CN" altLang="en-US" sz="1800" b="1" dirty="0">
                <a:solidFill>
                  <a:prstClr val="black"/>
                </a:solidFill>
                <a:latin typeface="Times-Bold"/>
              </a:rPr>
              <a:t>型零件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，然后装配成一个产品；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Inspector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检修员进程，进入仓库检修时，所有生产者和装配者都不能访问仓库；已经进入仓库的操作可以完成，但检修员等待期间，新的生产者和装配者不能继续插队。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要求：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仓库容量不能超过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N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；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装配者必须同时取得一对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A</a:t>
            </a:r>
            <a:r>
              <a:rPr lang="zh-CN" altLang="e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、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B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零件，不能只取一种后长期等待另一种；检修员检修时，仓库内不能有生产者或装配者；检修员等待时，后续普通操作不能无限插队；使用 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P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、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V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操作实现同步，不能忙等。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8208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题目拆解：为什么是压轴级？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一题同时叠加多个经典同步问题，不能直接套某一个模板。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Text 4"/>
          <p:cNvSpPr/>
          <p:nvPr/>
        </p:nvSpPr>
        <p:spPr>
          <a:xfrm>
            <a:off x="66751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Text 6"/>
          <p:cNvSpPr/>
          <p:nvPr/>
        </p:nvSpPr>
        <p:spPr>
          <a:xfrm>
            <a:off x="464515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" name="Text 8"/>
          <p:cNvSpPr/>
          <p:nvPr/>
        </p:nvSpPr>
        <p:spPr>
          <a:xfrm>
            <a:off x="853135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2" name="Text 10"/>
          <p:cNvSpPr/>
          <p:nvPr/>
        </p:nvSpPr>
        <p:spPr>
          <a:xfrm>
            <a:off x="70408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有界仓库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仓库最多存 N 个零件，生产者必须等待空位。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5" name="Text 13"/>
          <p:cNvSpPr/>
          <p:nvPr/>
        </p:nvSpPr>
        <p:spPr>
          <a:xfrm>
            <a:off x="449884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成对消费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9884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装配者不能先拿 A 再等 B，否则会占有部分资源。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8" name="Text 16"/>
          <p:cNvSpPr/>
          <p:nvPr/>
        </p:nvSpPr>
        <p:spPr>
          <a:xfrm>
            <a:off x="829360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检修独占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9360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检修员进入时，普通操作全部不能访问仓库。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1" name="Text 19"/>
          <p:cNvSpPr/>
          <p:nvPr/>
        </p:nvSpPr>
        <p:spPr>
          <a:xfrm>
            <a:off x="70408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防插队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检修员等待时，后续普通操作不能无限进入。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8912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4" name="Text 22"/>
          <p:cNvSpPr/>
          <p:nvPr/>
        </p:nvSpPr>
        <p:spPr>
          <a:xfrm>
            <a:off x="449884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防死锁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9884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不能让进程进入仓库后再等待资源，否则可能锁住仓库。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7" name="Text 25"/>
          <p:cNvSpPr/>
          <p:nvPr/>
        </p:nvSpPr>
        <p:spPr>
          <a:xfrm>
            <a:off x="829360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正确顺序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9360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先确认资源条件，再进入仓库；共享变量统一互斥修改。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4892040"/>
            <a:ext cx="10561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30" name="Text 28"/>
          <p:cNvSpPr/>
          <p:nvPr/>
        </p:nvSpPr>
        <p:spPr>
          <a:xfrm>
            <a:off x="932688" y="4946904"/>
            <a:ext cx="103418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关键判断：装配者等待的是“完整 A-B 零件对”，检修员等待的是“仓库内普通操作全部结束”。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变量与信号量：把“仓库规则”建模成 P/V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所有共享计数都必须在互斥区内修改；同步条件用计数信号量表达。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835640" cy="347472"/>
          </a:xfrm>
          <a:prstGeom prst="rect">
            <a:avLst/>
          </a:prstGeom>
          <a:solidFill>
            <a:srgbClr val="D97706"/>
          </a:solidFill>
          <a:ln w="762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722376" y="1207008"/>
            <a:ext cx="1847088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42616" y="1207008"/>
            <a:ext cx="4133088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48856" y="1207008"/>
            <a:ext cx="4636008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1920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countA, countB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4206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2" name="Text 10"/>
          <p:cNvSpPr/>
          <p:nvPr/>
        </p:nvSpPr>
        <p:spPr>
          <a:xfrm>
            <a:off x="2679192" y="1554480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仓库中 A/B 零件数量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470916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4" name="Text 12"/>
          <p:cNvSpPr/>
          <p:nvPr/>
        </p:nvSpPr>
        <p:spPr>
          <a:xfrm>
            <a:off x="6885432" y="1554480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判断新增零件是否形成新配对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975104"/>
            <a:ext cx="1920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6" name="Text 14"/>
          <p:cNvSpPr/>
          <p:nvPr/>
        </p:nvSpPr>
        <p:spPr>
          <a:xfrm>
            <a:off x="758952" y="206654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mutex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06040" y="1975104"/>
            <a:ext cx="4206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8" name="Text 16"/>
          <p:cNvSpPr/>
          <p:nvPr/>
        </p:nvSpPr>
        <p:spPr>
          <a:xfrm>
            <a:off x="2679192" y="2066544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countA、countB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1975104"/>
            <a:ext cx="470916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0" name="Text 18"/>
          <p:cNvSpPr/>
          <p:nvPr/>
        </p:nvSpPr>
        <p:spPr>
          <a:xfrm>
            <a:off x="6885432" y="2066544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避免生产者/装配者并发改错计数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2487168"/>
            <a:ext cx="1920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2" name="Text 20"/>
          <p:cNvSpPr/>
          <p:nvPr/>
        </p:nvSpPr>
        <p:spPr>
          <a:xfrm>
            <a:off x="758952" y="25786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empty = 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487168"/>
            <a:ext cx="4206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4" name="Text 22"/>
          <p:cNvSpPr/>
          <p:nvPr/>
        </p:nvSpPr>
        <p:spPr>
          <a:xfrm>
            <a:off x="2679192" y="257860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仓库剩余空位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2487168"/>
            <a:ext cx="470916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6" name="Text 24"/>
          <p:cNvSpPr/>
          <p:nvPr/>
        </p:nvSpPr>
        <p:spPr>
          <a:xfrm>
            <a:off x="6885432" y="2578608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保证仓库容量不超过 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2999232"/>
            <a:ext cx="1920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8" name="Text 26"/>
          <p:cNvSpPr/>
          <p:nvPr/>
        </p:nvSpPr>
        <p:spPr>
          <a:xfrm>
            <a:off x="758952" y="309067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pair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06040" y="2999232"/>
            <a:ext cx="4206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0" name="Text 28"/>
          <p:cNvSpPr/>
          <p:nvPr/>
        </p:nvSpPr>
        <p:spPr>
          <a:xfrm>
            <a:off x="2679192" y="3090672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可装配的 A-B 零件对数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12280" y="2999232"/>
            <a:ext cx="470916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2" name="Text 30"/>
          <p:cNvSpPr/>
          <p:nvPr/>
        </p:nvSpPr>
        <p:spPr>
          <a:xfrm>
            <a:off x="6885432" y="3090672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装配者只在存在完整配对时执行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3511296"/>
            <a:ext cx="1920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4" name="Text 32"/>
          <p:cNvSpPr/>
          <p:nvPr/>
        </p:nvSpPr>
        <p:spPr>
          <a:xfrm>
            <a:off x="758952" y="360273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turnstile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06040" y="3511296"/>
            <a:ext cx="4206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6" name="Text 34"/>
          <p:cNvSpPr/>
          <p:nvPr/>
        </p:nvSpPr>
        <p:spPr>
          <a:xfrm>
            <a:off x="2679192" y="3602736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公平入口闸门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2280" y="3511296"/>
            <a:ext cx="470916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8" name="Text 36"/>
          <p:cNvSpPr/>
          <p:nvPr/>
        </p:nvSpPr>
        <p:spPr>
          <a:xfrm>
            <a:off x="6885432" y="3602736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检修员等待后，阻止普通操作继续插队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4023360"/>
            <a:ext cx="1920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0" name="Text 38"/>
          <p:cNvSpPr/>
          <p:nvPr/>
        </p:nvSpPr>
        <p:spPr>
          <a:xfrm>
            <a:off x="758952" y="411480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noWorker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06040" y="4023360"/>
            <a:ext cx="420624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2" name="Text 40"/>
          <p:cNvSpPr/>
          <p:nvPr/>
        </p:nvSpPr>
        <p:spPr>
          <a:xfrm>
            <a:off x="2679192" y="4114800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普通操作为空的标志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12280" y="4023360"/>
            <a:ext cx="4709160" cy="512064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4" name="Text 42"/>
          <p:cNvSpPr/>
          <p:nvPr/>
        </p:nvSpPr>
        <p:spPr>
          <a:xfrm>
            <a:off x="6885432" y="4114800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保证检修员能独占仓库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4535424"/>
            <a:ext cx="1920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6" name="Text 44"/>
          <p:cNvSpPr/>
          <p:nvPr/>
        </p:nvSpPr>
        <p:spPr>
          <a:xfrm>
            <a:off x="758952" y="462686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workerCount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606040" y="4535424"/>
            <a:ext cx="420624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8" name="Text 46"/>
          <p:cNvSpPr/>
          <p:nvPr/>
        </p:nvSpPr>
        <p:spPr>
          <a:xfrm>
            <a:off x="2679192" y="4626864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仓库中普通操作数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12280" y="4535424"/>
            <a:ext cx="4709160" cy="512064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50" name="Text 48"/>
          <p:cNvSpPr/>
          <p:nvPr/>
        </p:nvSpPr>
        <p:spPr>
          <a:xfrm>
            <a:off x="6885432" y="4626864"/>
            <a:ext cx="45628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第一个普通操作锁 noWorker，最后一个释放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68680" y="5779008"/>
            <a:ext cx="10378440" cy="438912"/>
          </a:xfrm>
          <a:prstGeom prst="rect">
            <a:avLst/>
          </a:prstGeom>
          <a:solidFill>
            <a:srgbClr val="ECFDF3"/>
          </a:solidFill>
          <a:ln w="8890">
            <a:solidFill>
              <a:srgbClr val="86D39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52" name="Text 50"/>
          <p:cNvSpPr/>
          <p:nvPr/>
        </p:nvSpPr>
        <p:spPr>
          <a:xfrm>
            <a:off x="978408" y="5833872"/>
            <a:ext cx="101589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一句话：empty 控容量，pair 控成对消费，turnstile + noWorker 控检修员的公平独占。</a:t>
            </a:r>
            <a:endParaRPr lang="en-US" sz="16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总体机制：生产者、装配者、检修员如何同步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先看全局流程，再看各进程代码。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286000" y="1828800"/>
            <a:ext cx="160020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160020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7" name="Shape 5"/>
          <p:cNvSpPr/>
          <p:nvPr/>
        </p:nvSpPr>
        <p:spPr>
          <a:xfrm>
            <a:off x="5486400" y="2359152"/>
            <a:ext cx="17830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" name="Shape 6"/>
          <p:cNvSpPr/>
          <p:nvPr/>
        </p:nvSpPr>
        <p:spPr>
          <a:xfrm>
            <a:off x="8686800" y="2359152"/>
            <a:ext cx="137160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9" name="Shape 7"/>
          <p:cNvSpPr/>
          <p:nvPr/>
        </p:nvSpPr>
        <p:spPr>
          <a:xfrm>
            <a:off x="5486400" y="4343400"/>
            <a:ext cx="109728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0" name="Shape 8"/>
          <p:cNvSpPr/>
          <p:nvPr/>
        </p:nvSpPr>
        <p:spPr>
          <a:xfrm>
            <a:off x="6583680" y="4343400"/>
            <a:ext cx="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1" name="Shape 9"/>
          <p:cNvSpPr/>
          <p:nvPr/>
        </p:nvSpPr>
        <p:spPr>
          <a:xfrm>
            <a:off x="2651760" y="4983480"/>
            <a:ext cx="109728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2" name="Shape 10"/>
          <p:cNvSpPr/>
          <p:nvPr/>
        </p:nvSpPr>
        <p:spPr>
          <a:xfrm>
            <a:off x="548640" y="141732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3" name="Text 11"/>
          <p:cNvSpPr/>
          <p:nvPr/>
        </p:nvSpPr>
        <p:spPr>
          <a:xfrm>
            <a:off x="658368" y="1508760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ProducerA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746504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P(empty)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countA++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 V(pair)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6" name="Text 14"/>
          <p:cNvSpPr/>
          <p:nvPr/>
        </p:nvSpPr>
        <p:spPr>
          <a:xfrm>
            <a:off x="658368" y="2606040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ProducerB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843784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P(empty)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countB++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 V(pair)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86200" y="1325880"/>
            <a:ext cx="1600200" cy="224028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9" name="Text 17"/>
          <p:cNvSpPr/>
          <p:nvPr/>
        </p:nvSpPr>
        <p:spPr>
          <a:xfrm>
            <a:off x="3995928" y="1417320"/>
            <a:ext cx="13807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95928" y="1655064"/>
            <a:ext cx="1380744" cy="1837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countA / countB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empty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pair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mutex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269480" y="1737360"/>
            <a:ext cx="1417320" cy="1234440"/>
          </a:xfrm>
          <a:prstGeom prst="roundRect">
            <a:avLst>
              <a:gd name="adj" fmla="val 5185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2" name="Text 20"/>
          <p:cNvSpPr/>
          <p:nvPr/>
        </p:nvSpPr>
        <p:spPr>
          <a:xfrm>
            <a:off x="7379208" y="182880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Assembler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79208" y="2066544"/>
            <a:ext cx="1197864" cy="8321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P(pair)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 A+B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V(empty)×2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0" y="178308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5" name="Text 23"/>
          <p:cNvSpPr/>
          <p:nvPr/>
        </p:nvSpPr>
        <p:spPr>
          <a:xfrm>
            <a:off x="10168128" y="187452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68128" y="2112264"/>
            <a:ext cx="1243584" cy="7406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装配在仓库外完成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6177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8" name="Text 26"/>
          <p:cNvSpPr/>
          <p:nvPr/>
        </p:nvSpPr>
        <p:spPr>
          <a:xfrm>
            <a:off x="886968" y="4709160"/>
            <a:ext cx="1655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Inspector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4946904"/>
            <a:ext cx="165506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P(turnstile)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P(noWorker)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749040" y="3840480"/>
            <a:ext cx="1874520" cy="1143000"/>
          </a:xfrm>
          <a:prstGeom prst="roundRect">
            <a:avLst>
              <a:gd name="adj" fmla="val 560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1" name="Text 29"/>
          <p:cNvSpPr/>
          <p:nvPr/>
        </p:nvSpPr>
        <p:spPr>
          <a:xfrm>
            <a:off x="3858768" y="3931920"/>
            <a:ext cx="16550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公平入口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58768" y="4169664"/>
            <a:ext cx="1655064" cy="7406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普通操作先过 turnstile；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检修员到达后关闭入口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3794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4" name="Text 32"/>
          <p:cNvSpPr/>
          <p:nvPr/>
        </p:nvSpPr>
        <p:spPr>
          <a:xfrm>
            <a:off x="6693408" y="388620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noWorker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93408" y="4123944"/>
            <a:ext cx="1883664" cy="9235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workerCount==0 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检修员才能进入；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检修时普通操作不能进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7" name="Text 35"/>
          <p:cNvSpPr/>
          <p:nvPr/>
        </p:nvSpPr>
        <p:spPr>
          <a:xfrm>
            <a:off x="886968" y="5861304"/>
            <a:ext cx="1029614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同步次序原则：生产者先 P(empty)，装配者先 P(pair)，再进入仓库；检修员先关 turnstile，再等 noWorker。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完整答案（一）：变量与初始化代码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先声明“零件计数、仓库容量、配对数量、检修互斥”四组状态。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623560" cy="480060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385816" cy="4654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countA = 0;              // 仓库中 A 型零件数量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countB = 0;              // 仓库中 B 型零件数量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mutex = 1;         // 保护 countA 和 countB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empty = N;         // 仓库剩余空位，初值为容量 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pair = 0;          // 当前可装配的 A-B 零件对数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turnstile = 1;     // 公平入口闸门，防止检修员被插队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noWorker = 1;      // 为 1 表示仓库内没有普通操作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workerMutex = 1;   // 保护 workerCount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workerCount = 0;         // 正在访问仓库的普通操作数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1234440"/>
            <a:ext cx="4480560" cy="731520"/>
          </a:xfrm>
          <a:prstGeom prst="roundRect">
            <a:avLst>
              <a:gd name="adj" fmla="val 875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" name="Text 6"/>
          <p:cNvSpPr/>
          <p:nvPr/>
        </p:nvSpPr>
        <p:spPr>
          <a:xfrm>
            <a:off x="6739128" y="132588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1：pair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39128" y="1563624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pair 不是 A 的数量，也不是 B 的数量，而是 min(countA, countB)。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2240280"/>
            <a:ext cx="4480560" cy="731520"/>
          </a:xfrm>
          <a:prstGeom prst="roundRect">
            <a:avLst>
              <a:gd name="adj" fmla="val 875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1" name="Text 9"/>
          <p:cNvSpPr/>
          <p:nvPr/>
        </p:nvSpPr>
        <p:spPr>
          <a:xfrm>
            <a:off x="6739128" y="233172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2：empty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39128" y="2569464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生产者必须先拿空位，再进入仓库；否则可能进入后阻塞。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29400" y="3246120"/>
            <a:ext cx="4480560" cy="731520"/>
          </a:xfrm>
          <a:prstGeom prst="roundRect">
            <a:avLst>
              <a:gd name="adj" fmla="val 875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4" name="Text 12"/>
          <p:cNvSpPr/>
          <p:nvPr/>
        </p:nvSpPr>
        <p:spPr>
          <a:xfrm>
            <a:off x="6739128" y="333756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3：turnstile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39128" y="3575304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检修员到达后关闭入口，阻止普通操作源源不断插队。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4251960"/>
            <a:ext cx="4480560" cy="731520"/>
          </a:xfrm>
          <a:prstGeom prst="roundRect">
            <a:avLst>
              <a:gd name="adj" fmla="val 875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7" name="Text 15"/>
          <p:cNvSpPr/>
          <p:nvPr/>
        </p:nvSpPr>
        <p:spPr>
          <a:xfrm>
            <a:off x="6739128" y="434340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 4：noWorker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9128" y="4581144"/>
            <a:ext cx="426110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检修员持有 noWorker 时，普通操作不能和检修并发。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完整答案（二）：普通操作进入与退出仓库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ProducerA、ProducerB、Assembler 都属于“普通操作”，进入前先过公平闸门。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34340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065776" cy="4197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void enterWarehouse()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P(turnstile);          // 先通过公平入口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V(turnstile);          // 立即放行后续普通操作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P(workerMutex);        // 互斥修改 workerCount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workerCount++;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(workerCount == 1)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P(noWorker);   // 第一个普通操作锁住仓库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V(workerMutex);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303520" cy="434340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8" name="Text 6"/>
          <p:cNvSpPr/>
          <p:nvPr/>
        </p:nvSpPr>
        <p:spPr>
          <a:xfrm>
            <a:off x="6336792" y="1216152"/>
            <a:ext cx="5065776" cy="4197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void leaveWarehouse()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P(workerMutex);        // 互斥修改 workerCount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workerCount--;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(workerCount == 0)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V(noWorker);   // 最后一个普通操作释放仓库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V(workerMutex);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68680" y="5760720"/>
            <a:ext cx="102870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0" name="Text 8"/>
          <p:cNvSpPr/>
          <p:nvPr/>
        </p:nvSpPr>
        <p:spPr>
          <a:xfrm>
            <a:off x="978408" y="5815584"/>
            <a:ext cx="1006754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读者-写者式思想：多个普通操作可以并发，但检修员需要独占；turnstile 用来保证检修员不饥饿。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完整答案（三）：A/B 生产者进程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两个生产者结构完全对称：先申请空位，再进入仓库，再更新零件数量。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486400" cy="48920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6" name="Text 4"/>
          <p:cNvSpPr/>
          <p:nvPr/>
        </p:nvSpPr>
        <p:spPr>
          <a:xfrm>
            <a:off x="667512" y="1216152"/>
            <a:ext cx="5248656" cy="4745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ProducerA()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生产一个 A 型零件;       // 仓库外完成，不需互斥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P(empty);               // 先申请 1 个空位，满仓则阻塞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enterWarehouse();       // 再进入仓库访问区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P(mutex);               // 互斥修改零件计数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countA++;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(countA &lt;= countB)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V(pair);        // 新 A 与已有 B 形成新配对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V(mutex);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leaveWarehouse();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143000"/>
            <a:ext cx="5486400" cy="48920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8" name="Text 6"/>
          <p:cNvSpPr/>
          <p:nvPr/>
        </p:nvSpPr>
        <p:spPr>
          <a:xfrm>
            <a:off x="6291072" y="1216152"/>
            <a:ext cx="5248656" cy="4745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ProducerB()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生产一个 B 型零件;       // 仓库外完成，不需互斥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P(empty);               // 先申请 1 个空位，满仓则阻塞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enterWarehouse();       // 再进入仓库访问区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P(mutex);               // 互斥修改零件计数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countB++;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(countB &lt;= countA)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V(pair);        // 新 B 与已有 A 形成新配对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V(mutex);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leaveWarehouse();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完整答案（四）：装配者进程 Assembler()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高难点：装配者必须等待“完整一对”，不能先占有一种零件。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806440" cy="48920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568696" cy="4745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Assembler()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P(pair);                // 等待 1 对完整的 A-B 零件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 // 避免“先拿 A 再等 B”的部分占有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enterWarehouse();       // 有完整配对后，才进入仓库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P(mutex);               // 互斥取出零件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countA--;           // 取 1 个 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countB--;           // 取 1 个 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V(empty);           // 释放 A 占用的空位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V(empty);           // 释放 B 占用的空位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V(mutex);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leaveWarehouse();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装配产品;               // 装配在仓库外完成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12280" y="1325880"/>
            <a:ext cx="4389120" cy="868680"/>
          </a:xfrm>
          <a:prstGeom prst="roundRect">
            <a:avLst>
              <a:gd name="adj" fmla="val 7368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" name="Text 6"/>
          <p:cNvSpPr/>
          <p:nvPr/>
        </p:nvSpPr>
        <p:spPr>
          <a:xfrm>
            <a:off x="6922008" y="1417320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为什么不用 P(A); P(B)？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22008" y="1655064"/>
            <a:ext cx="416966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装配者可能先拿走大量 A，再等待 B，造成部分资源占有与死锁风险。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12280" y="2514600"/>
            <a:ext cx="438912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1" name="Text 9"/>
          <p:cNvSpPr/>
          <p:nvPr/>
        </p:nvSpPr>
        <p:spPr>
          <a:xfrm>
            <a:off x="6922008" y="2606040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 P(pair)？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22008" y="2843784"/>
            <a:ext cx="416966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只有完整配对已经存在，装配者才进入仓库，不会在仓库内阻塞。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12280" y="3703320"/>
            <a:ext cx="438912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4" name="Text 12"/>
          <p:cNvSpPr/>
          <p:nvPr/>
        </p:nvSpPr>
        <p:spPr>
          <a:xfrm>
            <a:off x="6922008" y="3794760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V(empty) 两次？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22008" y="4032504"/>
            <a:ext cx="416966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每次装配取走两个零件，释放两个仓库空位。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完整答案（五）：检修员进程 Inspector()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检修员是“写者/独占者”：等待时必须阻止普通操作继续插队。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425196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477256" cy="410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Inspector()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P(turnstile);           // 关闭公平入口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 // 后来的普通操作会停在 turnstile 前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P(noWorker);            // 等待已经进入的普通操作全部离开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                 // workerCount == 0 时才可进入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检修仓库;               // 独占检修，生产者和装配者均不能访问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V(noWorker);            // 检修结束，释放仓库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V(turnstile);           // 重新打开公平入口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132588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" name="Text 6"/>
          <p:cNvSpPr/>
          <p:nvPr/>
        </p:nvSpPr>
        <p:spPr>
          <a:xfrm>
            <a:off x="6830568" y="141732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P(turnstile)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30568" y="1655064"/>
            <a:ext cx="42611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不是直接进仓库，而是先关入口，防止后来普通操作继续插队。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20840" y="251460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1" name="Text 9"/>
          <p:cNvSpPr/>
          <p:nvPr/>
        </p:nvSpPr>
        <p:spPr>
          <a:xfrm>
            <a:off x="6830568" y="260604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P(noWorker)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30568" y="2843784"/>
            <a:ext cx="42611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等待当前正在仓库内的普通操作自然结束，不强行中断。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20840" y="370332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4" name="Text 12"/>
          <p:cNvSpPr/>
          <p:nvPr/>
        </p:nvSpPr>
        <p:spPr>
          <a:xfrm>
            <a:off x="6830568" y="3794760"/>
            <a:ext cx="42611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V(noWorker), V(turnstile)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0568" y="4032504"/>
            <a:ext cx="426110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检修结束后，先释放仓库，再打开入口。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7" name="Text 15"/>
          <p:cNvSpPr/>
          <p:nvPr/>
        </p:nvSpPr>
        <p:spPr>
          <a:xfrm>
            <a:off x="932688" y="5861304"/>
            <a:ext cx="1020470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公平性核心：检修员一旦排到 turnstile，后续普通操作无法越过它。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正确性说明：为什么这个算法成立？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从容量、配对、互斥、公平和无死锁五个角度验证。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Text 4"/>
          <p:cNvSpPr/>
          <p:nvPr/>
        </p:nvSpPr>
        <p:spPr>
          <a:xfrm>
            <a:off x="704088" y="12344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容量安全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147218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生产者先 P(empty)，装配者取走两个零件后 V(empty) 两次，因此总零件数 ≤ N。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9" name="Text 7"/>
          <p:cNvSpPr/>
          <p:nvPr/>
        </p:nvSpPr>
        <p:spPr>
          <a:xfrm>
            <a:off x="704088" y="205740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成对消费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229514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Assembler 先 P(pair)，只有存在完整 A-B 配对才进入仓库，不会部分占有。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2" name="Text 10"/>
          <p:cNvSpPr/>
          <p:nvPr/>
        </p:nvSpPr>
        <p:spPr>
          <a:xfrm>
            <a:off x="704088" y="288036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计数互斥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311810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countA/countB 的所有修改都在 P(mutex) 与 V(mutex) 之间完成。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5" name="Text 13"/>
          <p:cNvSpPr/>
          <p:nvPr/>
        </p:nvSpPr>
        <p:spPr>
          <a:xfrm>
            <a:off x="6464808" y="12344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检修独占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64808" y="147218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workerCount&gt;0 时 noWorker=0；检修员持有 noWorker 时普通操作不能并发访问。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8" name="Text 16"/>
          <p:cNvSpPr/>
          <p:nvPr/>
        </p:nvSpPr>
        <p:spPr>
          <a:xfrm>
            <a:off x="6464808" y="205740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公平防饿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64808" y="229514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检修员先 P(turnstile)，后续普通操作被挡住，避免 workerCount 长期不为 0。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78892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1" name="Text 19"/>
          <p:cNvSpPr/>
          <p:nvPr/>
        </p:nvSpPr>
        <p:spPr>
          <a:xfrm>
            <a:off x="6464808" y="288036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无死锁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808" y="311810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生产者先等 empty，装配者先等 pair，再进入仓库；不会在仓库内长期等待资源。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11480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4" name="Text 22"/>
          <p:cNvSpPr/>
          <p:nvPr/>
        </p:nvSpPr>
        <p:spPr>
          <a:xfrm>
            <a:off x="758952" y="4165092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不变量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498848"/>
            <a:ext cx="106070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6" name="Text 24"/>
          <p:cNvSpPr/>
          <p:nvPr/>
        </p:nvSpPr>
        <p:spPr>
          <a:xfrm>
            <a:off x="795528" y="4553712"/>
            <a:ext cx="10387584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≤ countA + countB ≤ N；pair = min(countA, countB) 的可用配对数；Inspector 检修 ⇒ workerCount = 0。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3492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8" name="Text 26"/>
          <p:cNvSpPr/>
          <p:nvPr/>
        </p:nvSpPr>
        <p:spPr>
          <a:xfrm>
            <a:off x="758952" y="5399532"/>
            <a:ext cx="149961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压轴点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724144"/>
            <a:ext cx="10607040" cy="438912"/>
          </a:xfrm>
          <a:prstGeom prst="rect">
            <a:avLst/>
          </a:prstGeom>
          <a:solidFill>
            <a:srgbClr val="FFF3E0"/>
          </a:solidFill>
          <a:ln w="8890">
            <a:solidFill>
              <a:srgbClr val="F2C185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30" name="Text 28"/>
          <p:cNvSpPr/>
          <p:nvPr/>
        </p:nvSpPr>
        <p:spPr>
          <a:xfrm>
            <a:off x="795528" y="5779008"/>
            <a:ext cx="1038758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不是多写信号量，而是安排正确的 P/V 顺序：先等资源条件，再进入共享访问区；先关公平入口，再等独占。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一页记忆：双零件装配仓库同步口诀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考试时先画出四类信号量，再按进程类型套入。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wide_clean_vector_flat_illustration_scene_of_an.png"/>
          <p:cNvPicPr>
            <a:picLocks noChangeAspect="1"/>
          </p:cNvPicPr>
          <p:nvPr/>
        </p:nvPicPr>
        <p:blipFill>
          <a:blip r:embed="rId3"/>
          <a:srcRect l="31240" r="31240"/>
          <a:stretch/>
        </p:blipFill>
        <p:spPr>
          <a:xfrm>
            <a:off x="548640" y="1143000"/>
            <a:ext cx="283464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03320" y="1143000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7" name="Text 4"/>
          <p:cNvSpPr/>
          <p:nvPr/>
        </p:nvSpPr>
        <p:spPr>
          <a:xfrm>
            <a:off x="3813048" y="1234440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第一步：生产者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3048" y="1472184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生产零件 → P(empty) → enterWarehouse() → count++ → 必要时 V(pair) → leaveWarehouse()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3320" y="1993392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" name="Text 7"/>
          <p:cNvSpPr/>
          <p:nvPr/>
        </p:nvSpPr>
        <p:spPr>
          <a:xfrm>
            <a:off x="3813048" y="2084832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第二步：装配者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3048" y="2322576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P(pair) → enterWarehouse() → countA--, countB-- → V(empty)×2 → leaveWarehouse()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03320" y="2843784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3" name="Text 10"/>
          <p:cNvSpPr/>
          <p:nvPr/>
        </p:nvSpPr>
        <p:spPr>
          <a:xfrm>
            <a:off x="3813048" y="2935224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第三步：检修员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3048" y="3172968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P(turnstile) → P(noWorker) → 检修 → V(noWorker) → V(turnstile)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03320" y="3694176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6" name="Text 13"/>
          <p:cNvSpPr/>
          <p:nvPr/>
        </p:nvSpPr>
        <p:spPr>
          <a:xfrm>
            <a:off x="3813048" y="3785616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第四步：入口控制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3048" y="4023360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普通操作进入：短暂通过 turnstile；第一个普通操作 P(noWorker)，最后一个 V(noWorker)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703320" y="4892040"/>
            <a:ext cx="7635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9" name="Text 16"/>
          <p:cNvSpPr/>
          <p:nvPr/>
        </p:nvSpPr>
        <p:spPr>
          <a:xfrm>
            <a:off x="3813048" y="4946904"/>
            <a:ext cx="7415784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核心：empty 控容量，pair 控成对，mutex 控计数，turnstile + noWorker 控检修独占与公平。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记忆公式：资源条件先满足，共享区域再进入；检修员先关门，再等待仓库清空。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数据库查询、更新与备份</a:t>
            </a:r>
            <a:endParaRPr lang="en-US" sz="2850" dirty="0"/>
          </a:p>
          <a:p>
            <a:pPr marL="0" indent="0">
              <a:buNone/>
            </a:pPr>
            <a:r>
              <a:rPr lang="en-US" sz="285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同步问题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408 压轴级 · P/V 操作 · 完整注释版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目标：允许有限并发查询，同时保证更新与备份独占，并防止写者/备份者饥饿。</a:t>
            </a:r>
            <a:endParaRPr lang="en-US" dirty="0"/>
          </a:p>
        </p:txBody>
      </p:sp>
      <p:pic>
        <p:nvPicPr>
          <p:cNvPr id="5" name="Image 0" descr="/mnt/data/wide_clean_vector_illustration_style_scene_of_a_m.png"/>
          <p:cNvPicPr>
            <a:picLocks noChangeAspect="1"/>
          </p:cNvPicPr>
          <p:nvPr/>
        </p:nvPicPr>
        <p:blipFill>
          <a:blip r:embed="rId3"/>
          <a:srcRect l="20270" r="20270"/>
          <a:stretch/>
        </p:blipFill>
        <p:spPr>
          <a:xfrm>
            <a:off x="5349240" y="0"/>
            <a:ext cx="6839712" cy="6473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1605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模型抽象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4434840"/>
            <a:ext cx="45262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Reader：只读，可并发，但最多 K 个
• Writer：更新数据库，需要独占
• Backup：一致性备份，也需要独占
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DE9AEE3-1A5A-13AF-27EF-466EF25A5E0A}"/>
              </a:ext>
            </a:extLst>
          </p:cNvPr>
          <p:cNvSpPr txBox="1"/>
          <p:nvPr/>
        </p:nvSpPr>
        <p:spPr>
          <a:xfrm>
            <a:off x="793820" y="1107799"/>
            <a:ext cx="1003830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prstClr val="black"/>
                </a:solidFill>
                <a:latin typeface="Times-Bold"/>
              </a:rPr>
              <a:t>题目：数据库查询、更新与备份同步问题</a:t>
            </a:r>
            <a:endParaRPr lang="en-US" altLang="zh-CN" sz="3600" b="1" dirty="0">
              <a:solidFill>
                <a:prstClr val="black"/>
              </a:solidFill>
              <a:latin typeface="Times-Bold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某数据库系统支持三类进程：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Reader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查询进程，只读数据库；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Writer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更新进程，修改数据库；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Backup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：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备份进程，对整个数据库做一致性备份。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系统规则如下：多个查询进程可以同时读数据库，但最多允许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K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个查询进程同时读。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更新进程写数据库时，不能有任何查询进程或其他更新进程访问数据库。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备份进程执行时，不能有任何查询进程或更新进程访问数据库。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如果更新进程或备份进程已经在等待，则后续到达的查询进程不能无限插队。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查询、更新、备份都不能忙等。要求算法满足：查询进程之间可并发；查询并发数不超过 </a:t>
            </a:r>
            <a:r>
              <a:rPr lang="en" altLang="zh-CN" sz="2000" b="0" dirty="0">
                <a:solidFill>
                  <a:prstClr val="black"/>
                </a:solidFill>
                <a:latin typeface="Courier" panose="02070309020205020404" pitchFamily="49" charset="0"/>
              </a:rPr>
              <a:t>K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；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写操作与读操作互斥；备份操作与所有普通访问互斥；防止写进程或备份进程长期饥饿。</a:t>
            </a:r>
            <a:endParaRPr lang="en-US" altLang="zh-CN" sz="1800" b="0" dirty="0">
              <a:solidFill>
                <a:prstClr val="black"/>
              </a:solidFill>
              <a:latin typeface="Times-Roman"/>
            </a:endParaRPr>
          </a:p>
          <a:p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请用 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P</a:t>
            </a:r>
            <a:r>
              <a:rPr lang="zh-CN" altLang="en" sz="1800" b="0" dirty="0">
                <a:solidFill>
                  <a:prstClr val="black"/>
                </a:solidFill>
                <a:latin typeface="Times-Roman"/>
              </a:rPr>
              <a:t>、</a:t>
            </a:r>
            <a:r>
              <a:rPr lang="en" altLang="zh-CN" sz="1800" b="0" dirty="0">
                <a:solidFill>
                  <a:prstClr val="black"/>
                </a:solidFill>
                <a:latin typeface="Times-Roman"/>
              </a:rPr>
              <a:t>V </a:t>
            </a:r>
            <a:r>
              <a:rPr lang="zh-CN" altLang="en-US" sz="1800" b="0" dirty="0">
                <a:solidFill>
                  <a:prstClr val="black"/>
                </a:solidFill>
                <a:latin typeface="Times-Roman"/>
              </a:rPr>
              <a:t>操作实现三类进程的同步算法。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088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题目拆解：为什么是压轴级？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这是“有限并发公平读者-写者问题 + 独占备份进程”的组合。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66751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" name="Text 6"/>
          <p:cNvSpPr/>
          <p:nvPr/>
        </p:nvSpPr>
        <p:spPr>
          <a:xfrm>
            <a:off x="464515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0" name="Text 8"/>
          <p:cNvSpPr/>
          <p:nvPr/>
        </p:nvSpPr>
        <p:spPr>
          <a:xfrm>
            <a:off x="8531352" y="1193292"/>
            <a:ext cx="8595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2" name="Text 10"/>
          <p:cNvSpPr/>
          <p:nvPr/>
        </p:nvSpPr>
        <p:spPr>
          <a:xfrm>
            <a:off x="70408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可并发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多个查询进程可以同时读，但不能无限制并发。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5" name="Text 13"/>
          <p:cNvSpPr/>
          <p:nvPr/>
        </p:nvSpPr>
        <p:spPr>
          <a:xfrm>
            <a:off x="449884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 独占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更新时不能有任何 Reader、Writer 或 Backup。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15087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8" name="Text 16"/>
          <p:cNvSpPr/>
          <p:nvPr/>
        </p:nvSpPr>
        <p:spPr>
          <a:xfrm>
            <a:off x="8293608" y="16002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Backup 独占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3608" y="18379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备份需要一致视图，不能与任何访问并发。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1" name="Text 19"/>
          <p:cNvSpPr/>
          <p:nvPr/>
        </p:nvSpPr>
        <p:spPr>
          <a:xfrm>
            <a:off x="70408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 K 个 Reader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readSlots 控制有限并发，防止查询过载。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912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4" name="Text 22"/>
          <p:cNvSpPr/>
          <p:nvPr/>
        </p:nvSpPr>
        <p:spPr>
          <a:xfrm>
            <a:off x="449884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 Reader 插队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9884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一旦 Writer/Backup 等待，后续 Reader 不能继续进入。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83880" y="288036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7" name="Text 25"/>
          <p:cNvSpPr/>
          <p:nvPr/>
        </p:nvSpPr>
        <p:spPr>
          <a:xfrm>
            <a:off x="8293608" y="2971800"/>
            <a:ext cx="29352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无忙等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93608" y="3209544"/>
            <a:ext cx="293522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所有等待均通过 P 操作阻塞完成。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4892040"/>
            <a:ext cx="105613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30" name="Text 28"/>
          <p:cNvSpPr/>
          <p:nvPr/>
        </p:nvSpPr>
        <p:spPr>
          <a:xfrm>
            <a:off x="932688" y="4946904"/>
            <a:ext cx="103418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关键难点：Reader 既要共享并发，又不能让 Writer 和 Backup 长期饥饿。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变量与信号量：把数据库访问规则建模成 P/V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 管公平排队，resource 管独占数据库，readSlots 管查询容量。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835640" cy="384048"/>
          </a:xfrm>
          <a:prstGeom prst="rect">
            <a:avLst/>
          </a:prstGeom>
          <a:solidFill>
            <a:srgbClr val="D97706"/>
          </a:solidFill>
          <a:ln w="762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6" name="Text 4"/>
          <p:cNvSpPr/>
          <p:nvPr/>
        </p:nvSpPr>
        <p:spPr>
          <a:xfrm>
            <a:off x="722376" y="122529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88336" y="1225296"/>
            <a:ext cx="413308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94576" y="1225296"/>
            <a:ext cx="4590288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499616"/>
            <a:ext cx="196596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0" name="Text 8"/>
          <p:cNvSpPr/>
          <p:nvPr/>
        </p:nvSpPr>
        <p:spPr>
          <a:xfrm>
            <a:off x="758952" y="1609344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1499616"/>
            <a:ext cx="42062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2" name="Text 10"/>
          <p:cNvSpPr/>
          <p:nvPr/>
        </p:nvSpPr>
        <p:spPr>
          <a:xfrm>
            <a:off x="2724912" y="1609344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当前正在读数据库的 Reader 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499616"/>
            <a:ext cx="46634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4" name="Text 12"/>
          <p:cNvSpPr/>
          <p:nvPr/>
        </p:nvSpPr>
        <p:spPr>
          <a:xfrm>
            <a:off x="6931152" y="1609344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判断第一个 Reader 是否锁 resource，最后一个是否释放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57984"/>
            <a:ext cx="196596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6" name="Text 14"/>
          <p:cNvSpPr/>
          <p:nvPr/>
        </p:nvSpPr>
        <p:spPr>
          <a:xfrm>
            <a:off x="758952" y="226771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 =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51760" y="2157984"/>
            <a:ext cx="420624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8" name="Text 16"/>
          <p:cNvSpPr/>
          <p:nvPr/>
        </p:nvSpPr>
        <p:spPr>
          <a:xfrm>
            <a:off x="2724912" y="2267712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公平入口队列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2157984"/>
            <a:ext cx="466344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0" name="Text 18"/>
          <p:cNvSpPr/>
          <p:nvPr/>
        </p:nvSpPr>
        <p:spPr>
          <a:xfrm>
            <a:off x="6931152" y="2267712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 Reader/Writer/Backup 先排队，防止 Reader 无限插队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2816352"/>
            <a:ext cx="196596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2" name="Text 20"/>
          <p:cNvSpPr/>
          <p:nvPr/>
        </p:nvSpPr>
        <p:spPr>
          <a:xfrm>
            <a:off x="758952" y="292608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 = 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51760" y="2816352"/>
            <a:ext cx="42062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4" name="Text 22"/>
          <p:cNvSpPr/>
          <p:nvPr/>
        </p:nvSpPr>
        <p:spPr>
          <a:xfrm>
            <a:off x="2724912" y="2926080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数据库资源锁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2816352"/>
            <a:ext cx="46634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6" name="Text 24"/>
          <p:cNvSpPr/>
          <p:nvPr/>
        </p:nvSpPr>
        <p:spPr>
          <a:xfrm>
            <a:off x="6931152" y="2926080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Writer/Backup 独占；第一个 Reader 也要占用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474720"/>
            <a:ext cx="196596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8" name="Text 26"/>
          <p:cNvSpPr/>
          <p:nvPr/>
        </p:nvSpPr>
        <p:spPr>
          <a:xfrm>
            <a:off x="758952" y="358444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rmutex = 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651760" y="3474720"/>
            <a:ext cx="420624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0" name="Text 28"/>
          <p:cNvSpPr/>
          <p:nvPr/>
        </p:nvSpPr>
        <p:spPr>
          <a:xfrm>
            <a:off x="2724912" y="3584448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 readCount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3474720"/>
            <a:ext cx="4663440" cy="658368"/>
          </a:xfrm>
          <a:prstGeom prst="rect">
            <a:avLst/>
          </a:prstGeom>
          <a:solidFill>
            <a:srgbClr val="FAF1E7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2" name="Text 30"/>
          <p:cNvSpPr/>
          <p:nvPr/>
        </p:nvSpPr>
        <p:spPr>
          <a:xfrm>
            <a:off x="6931152" y="3584448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防止多个 Reader 同时修改计数器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5800" y="4133088"/>
            <a:ext cx="196596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4" name="Text 32"/>
          <p:cNvSpPr/>
          <p:nvPr/>
        </p:nvSpPr>
        <p:spPr>
          <a:xfrm>
            <a:off x="758952" y="4242816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readSlots = 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51760" y="4133088"/>
            <a:ext cx="42062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6" name="Text 34"/>
          <p:cNvSpPr/>
          <p:nvPr/>
        </p:nvSpPr>
        <p:spPr>
          <a:xfrm>
            <a:off x="2724912" y="4242816"/>
            <a:ext cx="40599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并发名额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4133088"/>
            <a:ext cx="4663440" cy="658368"/>
          </a:xfrm>
          <a:prstGeom prst="rect">
            <a:avLst/>
          </a:prstGeom>
          <a:solidFill>
            <a:srgbClr val="FFFDF9"/>
          </a:solidFill>
          <a:ln w="635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8" name="Text 36"/>
          <p:cNvSpPr/>
          <p:nvPr/>
        </p:nvSpPr>
        <p:spPr>
          <a:xfrm>
            <a:off x="6931152" y="4242816"/>
            <a:ext cx="4517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保证最多 K 个查询进程同时读数据库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8680" y="5669280"/>
            <a:ext cx="10378440" cy="457200"/>
          </a:xfrm>
          <a:prstGeom prst="rect">
            <a:avLst/>
          </a:prstGeom>
          <a:solidFill>
            <a:srgbClr val="ECFDF3"/>
          </a:solidFill>
          <a:ln w="8890">
            <a:solidFill>
              <a:srgbClr val="86D39D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40" name="Text 38"/>
          <p:cNvSpPr/>
          <p:nvPr/>
        </p:nvSpPr>
        <p:spPr>
          <a:xfrm>
            <a:off x="978408" y="5724144"/>
            <a:ext cx="10158984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一句话：queue 保公平，resource 保互斥，rmutex 保计数正确，readSlots 保 Reader 上限。</a:t>
            </a:r>
            <a:endParaRPr lang="en-US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总体机制：三类进程怎样通过信号量协作？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 resource 同时承担“写独占、备份独占、读者组互斥”的角色。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011680" y="1874520"/>
            <a:ext cx="105156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6" name="Shape 4"/>
          <p:cNvSpPr/>
          <p:nvPr/>
        </p:nvSpPr>
        <p:spPr>
          <a:xfrm>
            <a:off x="4526280" y="1874520"/>
            <a:ext cx="128016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7" name="Shape 5"/>
          <p:cNvSpPr/>
          <p:nvPr/>
        </p:nvSpPr>
        <p:spPr>
          <a:xfrm>
            <a:off x="7269480" y="1874520"/>
            <a:ext cx="132588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8" name="Shape 6"/>
          <p:cNvSpPr/>
          <p:nvPr/>
        </p:nvSpPr>
        <p:spPr>
          <a:xfrm>
            <a:off x="2011680" y="3337560"/>
            <a:ext cx="10515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9" name="Shape 7"/>
          <p:cNvSpPr/>
          <p:nvPr/>
        </p:nvSpPr>
        <p:spPr>
          <a:xfrm>
            <a:off x="4526280" y="3337560"/>
            <a:ext cx="12801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0" name="Shape 8"/>
          <p:cNvSpPr/>
          <p:nvPr/>
        </p:nvSpPr>
        <p:spPr>
          <a:xfrm>
            <a:off x="7269480" y="3337560"/>
            <a:ext cx="13258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1" name="Shape 9"/>
          <p:cNvSpPr/>
          <p:nvPr/>
        </p:nvSpPr>
        <p:spPr>
          <a:xfrm>
            <a:off x="2011680" y="4800600"/>
            <a:ext cx="105156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2" name="Shape 10"/>
          <p:cNvSpPr/>
          <p:nvPr/>
        </p:nvSpPr>
        <p:spPr>
          <a:xfrm>
            <a:off x="4526280" y="4800600"/>
            <a:ext cx="128016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3" name="Shape 11"/>
          <p:cNvSpPr/>
          <p:nvPr/>
        </p:nvSpPr>
        <p:spPr>
          <a:xfrm>
            <a:off x="7269480" y="4800600"/>
            <a:ext cx="132588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5" name="Text 13"/>
          <p:cNvSpPr/>
          <p:nvPr/>
        </p:nvSpPr>
        <p:spPr>
          <a:xfrm>
            <a:off x="704088" y="150876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1746504"/>
            <a:ext cx="119786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P(readSlots)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14173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18" name="Text 16"/>
          <p:cNvSpPr/>
          <p:nvPr/>
        </p:nvSpPr>
        <p:spPr>
          <a:xfrm>
            <a:off x="3172968" y="150876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读者计数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174650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readCount++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P(resource)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06440" y="141732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1" name="Text 19"/>
          <p:cNvSpPr/>
          <p:nvPr/>
        </p:nvSpPr>
        <p:spPr>
          <a:xfrm>
            <a:off x="5916168" y="150876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读数据库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16168" y="174650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 K 个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并发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95360" y="141732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4" name="Text 22"/>
          <p:cNvSpPr/>
          <p:nvPr/>
        </p:nvSpPr>
        <p:spPr>
          <a:xfrm>
            <a:off x="8705088" y="1508760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05088" y="1746504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最后一个 Reader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V(resource)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288036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27" name="Text 25"/>
          <p:cNvSpPr/>
          <p:nvPr/>
        </p:nvSpPr>
        <p:spPr>
          <a:xfrm>
            <a:off x="704088" y="297180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" y="3209544"/>
            <a:ext cx="119786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063240" y="28803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0" name="Text 28"/>
          <p:cNvSpPr/>
          <p:nvPr/>
        </p:nvSpPr>
        <p:spPr>
          <a:xfrm>
            <a:off x="3172968" y="297180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申请独占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72968" y="320954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P(resource)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06440" y="288036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3" name="Text 31"/>
          <p:cNvSpPr/>
          <p:nvPr/>
        </p:nvSpPr>
        <p:spPr>
          <a:xfrm>
            <a:off x="5916168" y="297180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写数据库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16168" y="320954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Reader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无其他 Writer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95360" y="28803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6" name="Text 34"/>
          <p:cNvSpPr/>
          <p:nvPr/>
        </p:nvSpPr>
        <p:spPr>
          <a:xfrm>
            <a:off x="8705088" y="2971800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05088" y="3209544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V(resource)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" y="43434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39" name="Text 37"/>
          <p:cNvSpPr/>
          <p:nvPr/>
        </p:nvSpPr>
        <p:spPr>
          <a:xfrm>
            <a:off x="704088" y="4434840"/>
            <a:ext cx="11978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Backup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4088" y="4672584"/>
            <a:ext cx="119786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063240" y="434340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42" name="Text 40"/>
          <p:cNvSpPr/>
          <p:nvPr/>
        </p:nvSpPr>
        <p:spPr>
          <a:xfrm>
            <a:off x="3172968" y="443484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申请独占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172968" y="467258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P(resource)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806440" y="434340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45" name="Text 43"/>
          <p:cNvSpPr/>
          <p:nvPr/>
        </p:nvSpPr>
        <p:spPr>
          <a:xfrm>
            <a:off x="5916168" y="4434840"/>
            <a:ext cx="12435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备份数据库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16168" y="4672584"/>
            <a:ext cx="1243584" cy="46634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一致视图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全局独占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95360" y="434340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48" name="Text 46"/>
          <p:cNvSpPr/>
          <p:nvPr/>
        </p:nvSpPr>
        <p:spPr>
          <a:xfrm>
            <a:off x="8705088" y="4434840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705088" y="4672584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V(resource)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652760" y="1828800"/>
            <a:ext cx="914400" cy="2926080"/>
          </a:xfrm>
          <a:prstGeom prst="roundRect">
            <a:avLst>
              <a:gd name="adj" fmla="val 7000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800"/>
          </a:p>
        </p:txBody>
      </p:sp>
      <p:sp>
        <p:nvSpPr>
          <p:cNvPr id="51" name="Text 49"/>
          <p:cNvSpPr/>
          <p:nvPr/>
        </p:nvSpPr>
        <p:spPr>
          <a:xfrm>
            <a:off x="10762488" y="1920240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762488" y="2157984"/>
            <a:ext cx="694944" cy="2523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全局公平入口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 Reader 无限插队</a:t>
            </a:r>
            <a:endParaRPr lang="en-US" sz="16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完整答案（一）：初始化代码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所有信号量初值都对应题目中的一个同步约束。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486400" cy="274320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Text 4"/>
          <p:cNvSpPr/>
          <p:nvPr/>
        </p:nvSpPr>
        <p:spPr>
          <a:xfrm>
            <a:off x="804672" y="1261872"/>
            <a:ext cx="5248656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 readCount = 0;             // 当前正在读的 Reader 数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queue = 1;           // 公平入口队列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resource = 1;        // 数据库资源锁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rmutex = 1;          // 保护 readCount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semaphore readSlots = K;       // 最多允许 K 个 Reader 同时读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143000"/>
            <a:ext cx="4526280" cy="713232"/>
          </a:xfrm>
          <a:prstGeom prst="roundRect">
            <a:avLst>
              <a:gd name="adj" fmla="val 8974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Text 6"/>
          <p:cNvSpPr/>
          <p:nvPr/>
        </p:nvSpPr>
        <p:spPr>
          <a:xfrm>
            <a:off x="6647688" y="1234440"/>
            <a:ext cx="43068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47688" y="1472184"/>
            <a:ext cx="4306824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Reader、Writer、Backup 全部先经过 queue，保证先来先服务趋势。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2066544"/>
            <a:ext cx="4526280" cy="713232"/>
          </a:xfrm>
          <a:prstGeom prst="roundRect">
            <a:avLst>
              <a:gd name="adj" fmla="val 8974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" name="Text 9"/>
          <p:cNvSpPr/>
          <p:nvPr/>
        </p:nvSpPr>
        <p:spPr>
          <a:xfrm>
            <a:off x="6647688" y="2157984"/>
            <a:ext cx="43068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47688" y="2395728"/>
            <a:ext cx="4306824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 和 Backup 独占；第一个 Reader 也占用它来阻止写/备份。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2990088"/>
            <a:ext cx="4526280" cy="713232"/>
          </a:xfrm>
          <a:prstGeom prst="roundRect">
            <a:avLst>
              <a:gd name="adj" fmla="val 8974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4" name="Text 12"/>
          <p:cNvSpPr/>
          <p:nvPr/>
        </p:nvSpPr>
        <p:spPr>
          <a:xfrm>
            <a:off x="6647688" y="3081528"/>
            <a:ext cx="43068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readSlots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47688" y="3319272"/>
            <a:ext cx="4306824" cy="3108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个查询名额，解决“读者可以并发但不能无限并发”。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572000"/>
            <a:ext cx="105613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7" name="Text 15"/>
          <p:cNvSpPr/>
          <p:nvPr/>
        </p:nvSpPr>
        <p:spPr>
          <a:xfrm>
            <a:off x="886968" y="4626864"/>
            <a:ext cx="103418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注意：queue 不是保护数据库内容，而是保护“进入顺序”；resource 才是真正的数据库互斥锁。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完整答案（二）：Reader 查询进程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进入时短暂经过 queue；真正读时释放 queue，让后续进程排队。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00" cy="539496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Text 4"/>
          <p:cNvSpPr/>
          <p:nvPr/>
        </p:nvSpPr>
        <p:spPr>
          <a:xfrm>
            <a:off x="758952" y="1170432"/>
            <a:ext cx="6163056" cy="5248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Reader()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P(queue);                 // 进入公平队列，防插队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P(readSlots);             // 申请一个查询并发名额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P(rmutex);                // 准备修改 readCount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readCount++;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(readCount == 1)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P(resource);      // 第一个 Reader 锁住数据库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V(rmutex);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V(queue);                 // 完成进入手续，释放队列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读数据库;                 // 多个 Reader 可并发，最多 K 个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P(rmutex);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readCount--;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if (readCount ==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    V(resource);      // 最后一个 Reader 释放数据库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V(rmutex);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V(readSlots);             // 释放一个查询名额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1234440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Text 6"/>
          <p:cNvSpPr/>
          <p:nvPr/>
        </p:nvSpPr>
        <p:spPr>
          <a:xfrm>
            <a:off x="7470648" y="1325880"/>
            <a:ext cx="3712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Reader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70648" y="1563624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 P(resource)，把 Writer/Backup 挡在外面。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2304288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" name="Text 9"/>
          <p:cNvSpPr/>
          <p:nvPr/>
        </p:nvSpPr>
        <p:spPr>
          <a:xfrm>
            <a:off x="7470648" y="2395728"/>
            <a:ext cx="3712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 Reader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70648" y="2633472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只增加 readCount，可与其他 Reader 并发读。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3374136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4" name="Text 12"/>
          <p:cNvSpPr/>
          <p:nvPr/>
        </p:nvSpPr>
        <p:spPr>
          <a:xfrm>
            <a:off x="7470648" y="3465576"/>
            <a:ext cx="3712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 Reader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70648" y="3703320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readCount 变 0 后 V(resource)，允许写或备份。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4443984"/>
            <a:ext cx="3931920" cy="804672"/>
          </a:xfrm>
          <a:prstGeom prst="roundRect">
            <a:avLst>
              <a:gd name="adj" fmla="val 7955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7" name="Text 15"/>
          <p:cNvSpPr/>
          <p:nvPr/>
        </p:nvSpPr>
        <p:spPr>
          <a:xfrm>
            <a:off x="7470648" y="4535424"/>
            <a:ext cx="371246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容量限制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70648" y="4773168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Reader 先 P(readSlots)，同时查询不超过 K。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完整答案（三）：Writer 与 Backup 独占进程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二者结构相同：先排队，再独占 resource，获得后释放 queue。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303520" cy="44348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Text 4"/>
          <p:cNvSpPr/>
          <p:nvPr/>
        </p:nvSpPr>
        <p:spPr>
          <a:xfrm>
            <a:off x="804672" y="1216152"/>
            <a:ext cx="5065776" cy="4288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Writer()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P(queue);             // 进入公平队列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P(resource);          // 申请数据库独占权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V(queue);             // 已获资源，释放队列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写数据库;             // 不能有 Reader/Writer/Backup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V(resource);          // 释放数据库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303520" cy="4434840"/>
          </a:xfrm>
          <a:prstGeom prst="rect">
            <a:avLst/>
          </a:prstGeom>
          <a:solidFill>
            <a:srgbClr val="F3EFE8"/>
          </a:solidFill>
          <a:ln w="8890">
            <a:solidFill>
              <a:srgbClr val="D8CAB9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Text 6"/>
          <p:cNvSpPr/>
          <p:nvPr/>
        </p:nvSpPr>
        <p:spPr>
          <a:xfrm>
            <a:off x="6336792" y="1216152"/>
            <a:ext cx="5065776" cy="4288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Backup()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P(queue);             // 进入公平队列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P(resource);          // 申请数据库独占权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V(queue);             // 已获资源，释放队列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备份数据库;           // 获得一致性视图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V(resource);          // 释放数据库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5806440"/>
            <a:ext cx="102870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" name="Text 8"/>
          <p:cNvSpPr/>
          <p:nvPr/>
        </p:nvSpPr>
        <p:spPr>
          <a:xfrm>
            <a:off x="978408" y="5861304"/>
            <a:ext cx="10067544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关键：Writer/Backup 等待 resource 时仍持有 queue，因此后续 Reader 不能继续进入，这就是防饥饿机制。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正确性证明（一）：Reader 并发与 K 限制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既能并发，又不会超过系统允许的最大并发数。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965960" y="1828800"/>
            <a:ext cx="114300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11887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7" name="Shape 5"/>
          <p:cNvSpPr/>
          <p:nvPr/>
        </p:nvSpPr>
        <p:spPr>
          <a:xfrm>
            <a:off x="7040880" y="1828800"/>
            <a:ext cx="11887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9" name="Text 7"/>
          <p:cNvSpPr/>
          <p:nvPr/>
        </p:nvSpPr>
        <p:spPr>
          <a:xfrm>
            <a:off x="731520" y="158191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到达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50876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" name="Text 9"/>
          <p:cNvSpPr/>
          <p:nvPr/>
        </p:nvSpPr>
        <p:spPr>
          <a:xfrm>
            <a:off x="3154680" y="1581912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P(readSlots)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3" name="Text 11"/>
          <p:cNvSpPr/>
          <p:nvPr/>
        </p:nvSpPr>
        <p:spPr>
          <a:xfrm>
            <a:off x="5715000" y="1581912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readCount++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5" name="Text 13"/>
          <p:cNvSpPr/>
          <p:nvPr/>
        </p:nvSpPr>
        <p:spPr>
          <a:xfrm>
            <a:off x="8275320" y="158191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读数据库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7" name="Text 15"/>
          <p:cNvSpPr/>
          <p:nvPr/>
        </p:nvSpPr>
        <p:spPr>
          <a:xfrm>
            <a:off x="932688" y="2880360"/>
            <a:ext cx="2843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并发成立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" y="3118104"/>
            <a:ext cx="284378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Reader 锁 resource 后，后续 Reader 不再申请 resource，只更新 readCount。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78892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0" name="Text 18"/>
          <p:cNvSpPr/>
          <p:nvPr/>
        </p:nvSpPr>
        <p:spPr>
          <a:xfrm>
            <a:off x="4636008" y="2880360"/>
            <a:ext cx="2843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容量成立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36008" y="3118104"/>
            <a:ext cx="284378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readSlots 初值为 K；每个 Reader 都要 P(readSlots)，因此同时最多 K 个。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278892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3" name="Text 21"/>
          <p:cNvSpPr/>
          <p:nvPr/>
        </p:nvSpPr>
        <p:spPr>
          <a:xfrm>
            <a:off x="8339328" y="2880360"/>
            <a:ext cx="2843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计数正确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9328" y="3118104"/>
            <a:ext cx="2843784" cy="51206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readCount 的修改被 rmutex 保护，不会出现计数丢失。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937760"/>
            <a:ext cx="10561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26" name="Text 24"/>
          <p:cNvSpPr/>
          <p:nvPr/>
        </p:nvSpPr>
        <p:spPr>
          <a:xfrm>
            <a:off x="886968" y="4992624"/>
            <a:ext cx="10341864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不变量：0 ≤ readCount ≤ K；readCount &gt; 0 ⇒ resource 被 Reader 组持有。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正确性证明（二）：Writer 与 Backup 的独占性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三类访问共享同一个 resource，因此写和备份都能获得互斥保证。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731520"/>
          </a:xfrm>
          <a:prstGeom prst="roundRect">
            <a:avLst>
              <a:gd name="adj" fmla="val 8750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841248" y="1234440"/>
            <a:ext cx="104790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与 Writer 互斥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472184"/>
            <a:ext cx="1047902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Reader 执行 P(resource)；Writer 进入前也必须 P(resource)。所以只要有 Reader，Writer 就不能写。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0698480" cy="731520"/>
          </a:xfrm>
          <a:prstGeom prst="roundRect">
            <a:avLst>
              <a:gd name="adj" fmla="val 8750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9" name="Text 7"/>
          <p:cNvSpPr/>
          <p:nvPr/>
        </p:nvSpPr>
        <p:spPr>
          <a:xfrm>
            <a:off x="841248" y="2148840"/>
            <a:ext cx="104790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 与 Backup 互斥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386584"/>
            <a:ext cx="1047902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Backup 进入前必须 P(resource)。Reader 组持有 resource 时，Backup 会阻塞。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10698480" cy="731520"/>
          </a:xfrm>
          <a:prstGeom prst="roundRect">
            <a:avLst>
              <a:gd name="adj" fmla="val 8750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2" name="Text 10"/>
          <p:cNvSpPr/>
          <p:nvPr/>
        </p:nvSpPr>
        <p:spPr>
          <a:xfrm>
            <a:off x="841248" y="3063240"/>
            <a:ext cx="104790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 与 Backup 互斥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300984"/>
            <a:ext cx="1047902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 和 Backup 都独占同一个 resource，因此二者不能同时执行。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0698480" cy="731520"/>
          </a:xfrm>
          <a:prstGeom prst="roundRect">
            <a:avLst>
              <a:gd name="adj" fmla="val 8750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5" name="Text 13"/>
          <p:cNvSpPr/>
          <p:nvPr/>
        </p:nvSpPr>
        <p:spPr>
          <a:xfrm>
            <a:off x="841248" y="3977640"/>
            <a:ext cx="1047902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 Writer / Backup 互斥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215384"/>
            <a:ext cx="10479024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所有独占进程都要 P(resource)，所以同一时刻只能有一个独占进程访问数据库。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5349240"/>
            <a:ext cx="10332720" cy="475488"/>
          </a:xfrm>
          <a:prstGeom prst="rect">
            <a:avLst/>
          </a:prstGeom>
          <a:solidFill>
            <a:srgbClr val="ECFDF3"/>
          </a:solidFill>
          <a:ln w="8890">
            <a:solidFill>
              <a:srgbClr val="86D39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8" name="Text 16"/>
          <p:cNvSpPr/>
          <p:nvPr/>
        </p:nvSpPr>
        <p:spPr>
          <a:xfrm>
            <a:off x="1024128" y="5404104"/>
            <a:ext cx="101132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安全不变量：Writer 执行 ⇒ readCount=0 且无 Backup；Backup 执行 ⇒ readCount=0 且无 Writer。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正确性证明（三）：公平性与无死锁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 是本题压轴点：它阻止 Reader 在写者/备份者等待时继续插队。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" name="Text 4"/>
          <p:cNvSpPr/>
          <p:nvPr/>
        </p:nvSpPr>
        <p:spPr>
          <a:xfrm>
            <a:off x="795528" y="12344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 Writer 饥饿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1472184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 到达后 P(queue)，即使阻塞在 P(resource)，后续 Reader 也会被挡在 queue 外。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9" name="Text 7"/>
          <p:cNvSpPr/>
          <p:nvPr/>
        </p:nvSpPr>
        <p:spPr>
          <a:xfrm>
            <a:off x="6464808" y="12344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 Backup 饥饿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64808" y="1472184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Backup 与 Writer 同样先占 queue；后续 Reader 不能继续进入，当前 Reader 结束后 Backup 获得 resource。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51460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2" name="Text 10"/>
          <p:cNvSpPr/>
          <p:nvPr/>
        </p:nvSpPr>
        <p:spPr>
          <a:xfrm>
            <a:off x="795528" y="26060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为什么不死锁？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843784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Writer/Backup 等待 resource 时持有 queue；但已经在读的 Reader 退出不需要 queue。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5166360" cy="96012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5" name="Text 13"/>
          <p:cNvSpPr/>
          <p:nvPr/>
        </p:nvSpPr>
        <p:spPr>
          <a:xfrm>
            <a:off x="6464808" y="2606040"/>
            <a:ext cx="494690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资源会被释放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4808" y="2843784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最后一个 Reader 只需 rmutex 即可执行 V(resource)，从而唤醒 Writer/Backup。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8" name="Text 16"/>
          <p:cNvSpPr/>
          <p:nvPr/>
        </p:nvSpPr>
        <p:spPr>
          <a:xfrm>
            <a:off x="758952" y="4210812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申请顺序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553712"/>
            <a:ext cx="106070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0" name="Text 18"/>
          <p:cNvSpPr/>
          <p:nvPr/>
        </p:nvSpPr>
        <p:spPr>
          <a:xfrm>
            <a:off x="795528" y="4608576"/>
            <a:ext cx="10387584" cy="38404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Reader：queue → readSlots → rmutex → resource；Writer/Backup：queue → resource。已经进入的 Reader 退出时不再申请 queue，因此不会形成循环等待。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546811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2" name="Text 20"/>
          <p:cNvSpPr/>
          <p:nvPr/>
        </p:nvSpPr>
        <p:spPr>
          <a:xfrm>
            <a:off x="758952" y="5518404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核心口诀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852160"/>
            <a:ext cx="10607040" cy="402336"/>
          </a:xfrm>
          <a:prstGeom prst="rect">
            <a:avLst/>
          </a:prstGeom>
          <a:solidFill>
            <a:srgbClr val="FFF3E0"/>
          </a:solidFill>
          <a:ln w="8890">
            <a:solidFill>
              <a:srgbClr val="F2C185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24" name="Text 22"/>
          <p:cNvSpPr/>
          <p:nvPr/>
        </p:nvSpPr>
        <p:spPr>
          <a:xfrm>
            <a:off x="795528" y="5907024"/>
            <a:ext cx="1038758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读者入场要排队，写者等锁还关门；读者走完再开库，备份更新都独占。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一页记忆：数据库查询、更新与备份同步口诀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21792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E62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考试时先写四个信号量，再按三类进程展开。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1338560" cy="0"/>
          </a:xfrm>
          <a:prstGeom prst="line">
            <a:avLst/>
          </a:prstGeom>
          <a:noFill/>
          <a:ln w="10160">
            <a:solidFill>
              <a:srgbClr val="E4D0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wide_clean_vector_illustration_style_scene_of_a_m.png"/>
          <p:cNvPicPr>
            <a:picLocks noChangeAspect="1"/>
          </p:cNvPicPr>
          <p:nvPr/>
        </p:nvPicPr>
        <p:blipFill>
          <a:blip r:embed="rId3"/>
          <a:srcRect l="31240" r="31240"/>
          <a:stretch/>
        </p:blipFill>
        <p:spPr>
          <a:xfrm>
            <a:off x="548640" y="1143000"/>
            <a:ext cx="283464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03320" y="1143000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FFF3E0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7" name="Text 4"/>
          <p:cNvSpPr/>
          <p:nvPr/>
        </p:nvSpPr>
        <p:spPr>
          <a:xfrm>
            <a:off x="3813048" y="1234440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13048" y="1472184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 → P(readSlots) → readCount++ → 第一个 P(resource) → V(queue) → 读 → 最后一个 V(resource)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3320" y="1993392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EAF2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0" name="Text 7"/>
          <p:cNvSpPr/>
          <p:nvPr/>
        </p:nvSpPr>
        <p:spPr>
          <a:xfrm>
            <a:off x="3813048" y="2084832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13048" y="2322576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 → P(resource) → V(queue) → 写数据库 → V(resource)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03320" y="2843784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ECFDF3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3" name="Text 10"/>
          <p:cNvSpPr/>
          <p:nvPr/>
        </p:nvSpPr>
        <p:spPr>
          <a:xfrm>
            <a:off x="3813048" y="2935224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Backup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13048" y="3172968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P(queue) → P(resource) → V(queue) → 备份数据库 → V(resource)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3694176"/>
            <a:ext cx="7635240" cy="612648"/>
          </a:xfrm>
          <a:prstGeom prst="roundRect">
            <a:avLst>
              <a:gd name="adj" fmla="val 10448"/>
            </a:avLst>
          </a:prstGeom>
          <a:solidFill>
            <a:srgbClr val="F5E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6" name="Text 13"/>
          <p:cNvSpPr/>
          <p:nvPr/>
        </p:nvSpPr>
        <p:spPr>
          <a:xfrm>
            <a:off x="3813048" y="3785616"/>
            <a:ext cx="7415784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四个信号量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13048" y="4023360"/>
            <a:ext cx="7415784" cy="2103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queue 保公平；resource 保独占；rmutex 保 readCount；readSlots 保 K 限制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4892040"/>
            <a:ext cx="7635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7D6BD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9" name="Text 16"/>
          <p:cNvSpPr/>
          <p:nvPr/>
        </p:nvSpPr>
        <p:spPr>
          <a:xfrm>
            <a:off x="3813048" y="4946904"/>
            <a:ext cx="7415784" cy="3931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核心：Reader 共享 resource 的“读者组”，Writer/Backup 独占 resource；queue 切断 Reader 无限插队。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25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记忆公式：有限读者先排队，首读锁库末读开；写备独占同一锁，等待时关入口。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97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9A7B5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5352</Words>
  <Application>Microsoft Macintosh PowerPoint</Application>
  <PresentationFormat>宽屏</PresentationFormat>
  <Paragraphs>1068</Paragraphs>
  <Slides>46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3" baseType="lpstr">
      <vt:lpstr>Noto Sans CJK SC</vt:lpstr>
      <vt:lpstr>Noto Sans Mono CJK SC</vt:lpstr>
      <vt:lpstr>Times-Bold</vt:lpstr>
      <vt:lpstr>Times-Roman</vt:lpstr>
      <vt:lpstr>Arial</vt:lpstr>
      <vt:lpstr>Courier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第五题独木桥同步问题</dc:title>
  <dc:subject>第五题独木桥同步问题 P/V 答案</dc:subject>
  <dc:creator>OpenAI</dc:creator>
  <cp:lastModifiedBy>hwkang@aliyun.com</cp:lastModifiedBy>
  <cp:revision>6</cp:revision>
  <dcterms:created xsi:type="dcterms:W3CDTF">2026-06-21T15:37:08Z</dcterms:created>
  <dcterms:modified xsi:type="dcterms:W3CDTF">2026-06-22T02:26:17Z</dcterms:modified>
</cp:coreProperties>
</file>